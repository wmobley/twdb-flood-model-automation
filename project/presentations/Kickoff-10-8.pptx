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52"/>
    <p:restoredTop sz="83996"/>
  </p:normalViewPr>
  <p:slideViewPr>
    <p:cSldViewPr snapToGrid="0">
      <p:cViewPr varScale="1">
        <p:scale>
          <a:sx n="129" d="100"/>
          <a:sy n="129" d="100"/>
        </p:scale>
        <p:origin x="8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Melissa’s Team Feb and April are the Big times</a:t>
            </a:r>
          </a:p>
          <a:p>
            <a:endParaRPr lang="en-US" dirty="0"/>
          </a:p>
          <a:p>
            <a:r>
              <a:rPr lang="en-US" dirty="0"/>
              <a:t>Chris’s team are intermittent. </a:t>
            </a:r>
          </a:p>
          <a:p>
            <a:r>
              <a:rPr lang="en-US" dirty="0"/>
              <a:t>11 People</a:t>
            </a:r>
          </a:p>
          <a:p>
            <a:endParaRPr lang="en-US" dirty="0"/>
          </a:p>
          <a:p>
            <a:r>
              <a:rPr lang="en-US" dirty="0"/>
              <a:t>They will get me Rubrics for validating models and 2 models with outputs. </a:t>
            </a:r>
          </a:p>
          <a:p>
            <a:endParaRPr lang="en-US" dirty="0"/>
          </a:p>
          <a:p>
            <a:r>
              <a:rPr lang="en-US" dirty="0"/>
              <a:t>Pdf and Video Make it shorter</a:t>
            </a:r>
          </a:p>
          <a:p>
            <a:endParaRPr lang="en-US" dirty="0"/>
          </a:p>
          <a:p>
            <a:r>
              <a:rPr lang="en-US" dirty="0"/>
              <a:t>3pm </a:t>
            </a:r>
            <a:r>
              <a:rPr lang="en-US" dirty="0" err="1"/>
              <a:t>friday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0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4F6E885-56F6-46AA-9AB1-35B2A5F166A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40A9C7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251E9A3-E584-4725-914A-2FFF605F99A0}"/>
              </a:ext>
            </a:extLst>
          </p:cNvPr>
          <p:cNvSpPr>
            <a:spLocks noGrp="1"/>
          </p:cNvSpPr>
          <p:nvPr/>
        </p:nvSpPr>
        <p:spPr>
          <a:xfrm>
            <a:off x="0" y="5429250"/>
            <a:ext cx="12192000" cy="1428750"/>
          </a:xfrm>
          <a:prstGeom prst="rect">
            <a:avLst/>
          </a:prstGeom>
          <a:solidFill>
            <a:srgbClr val="0C243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FF9E04-7EB4-4E41-8765-7A321FD4C620}"/>
              </a:ext>
            </a:extLst>
          </p:cNvPr>
          <p:cNvSpPr>
            <a:spLocks noGrp="1"/>
          </p:cNvSpPr>
          <p:nvPr/>
        </p:nvSpPr>
        <p:spPr>
          <a:xfrm>
            <a:off x="666750" y="1143000"/>
            <a:ext cx="7810500" cy="1714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HEC-RAS ETL</a:t>
            </a:r>
          </a:p>
          <a:p>
            <a:pPr algn="l">
              <a:lnSpc>
                <a:spcPct val="90000"/>
              </a:lnSpc>
              <a:buNone/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AUTOMATION PROGRAM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903466-4606-4ABE-90A0-F255AC5F40DE}"/>
              </a:ext>
            </a:extLst>
          </p:cNvPr>
          <p:cNvSpPr>
            <a:spLocks noGrp="1"/>
          </p:cNvSpPr>
          <p:nvPr/>
        </p:nvSpPr>
        <p:spPr>
          <a:xfrm>
            <a:off x="704850" y="3105150"/>
            <a:ext cx="7239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725" b="0">
                <a:solidFill>
                  <a:srgbClr val="D8EAF2"/>
                </a:solidFill>
                <a:latin typeface="Aptos"/>
                <a:ea typeface="Aptos"/>
                <a:cs typeface="Aptos"/>
              </a:defRPr>
            </a:pPr>
            <a:r>
              <a:rPr sz="1725" b="0" dirty="0">
                <a:solidFill>
                  <a:srgbClr val="D8EAF2"/>
                </a:solidFill>
                <a:latin typeface="Aptos"/>
                <a:ea typeface="Aptos"/>
                <a:cs typeface="Aptos"/>
              </a:rPr>
              <a:t>Project management roadmap for DYNAMO orchestration, Windows execution, and SVO-based ETL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8917E05-F2C1-4D53-9B3A-EED15EAD4DBB}"/>
              </a:ext>
            </a:extLst>
          </p:cNvPr>
          <p:cNvSpPr>
            <a:spLocks noGrp="1"/>
          </p:cNvSpPr>
          <p:nvPr/>
        </p:nvSpPr>
        <p:spPr>
          <a:xfrm>
            <a:off x="704850" y="5715000"/>
            <a:ext cx="2190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40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0A9C7"/>
                </a:solidFill>
                <a:latin typeface="Aptos"/>
                <a:ea typeface="Aptos"/>
                <a:cs typeface="Aptos"/>
              </a:rPr>
              <a:t>Planning baseline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0ADF3E-4033-4261-9001-0B75015AE0A4}"/>
              </a:ext>
            </a:extLst>
          </p:cNvPr>
          <p:cNvSpPr>
            <a:spLocks noGrp="1"/>
          </p:cNvSpPr>
          <p:nvPr/>
        </p:nvSpPr>
        <p:spPr>
          <a:xfrm>
            <a:off x="704850" y="5991225"/>
            <a:ext cx="3714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October 2026 – January 2028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7774FA-CEE0-4388-BD63-424687FB2AE9}"/>
              </a:ext>
            </a:extLst>
          </p:cNvPr>
          <p:cNvSpPr>
            <a:spLocks noGrp="1"/>
          </p:cNvSpPr>
          <p:nvPr/>
        </p:nvSpPr>
        <p:spPr>
          <a:xfrm>
            <a:off x="9144000" y="5962650"/>
            <a:ext cx="2286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275" b="0">
                <a:solidFill>
                  <a:srgbClr val="D8EAF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8EAF2"/>
                </a:solidFill>
                <a:latin typeface="Aptos"/>
                <a:ea typeface="Aptos"/>
                <a:cs typeface="Aptos"/>
              </a:rPr>
              <a:t>DYNAMO + TWDB co-design</a:t>
            </a:r>
          </a:p>
        </p:txBody>
      </p:sp>
    </p:spTree>
    <p:extLst>
      <p:ext uri="{BB962C8B-B14F-4D97-AF65-F5344CB8AC3E}">
        <p14:creationId xmlns:p14="http://schemas.microsoft.com/office/powerpoint/2010/main" val="177330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7C1C1B71-F187-4C5B-BB8B-41F60B098378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00" b="1">
                <a:solidFill>
                  <a:srgbClr val="1E6FA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FA8"/>
                </a:solidFill>
                <a:latin typeface="Aptos"/>
                <a:ea typeface="Aptos"/>
                <a:cs typeface="Aptos"/>
              </a:rPr>
              <a:t>HEC-RAS ETL AUTOMATION PROGRAM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0740127-FC58-4D2B-9E85-37742A745FB2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572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12304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2304A"/>
                </a:solidFill>
                <a:latin typeface="Aptos"/>
                <a:ea typeface="Aptos"/>
                <a:cs typeface="Aptos"/>
              </a:rPr>
              <a:t>Program objective and management logic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123F5C69-21B7-4A10-B9CB-9E46762C3F83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10972800" cy="0"/>
          </a:xfrm>
          <a:prstGeom prst="line">
            <a:avLst/>
          </a:prstGeom>
          <a:noFill/>
          <a:ln w="19050">
            <a:solidFill>
              <a:srgbClr val="D3E0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B1A7E2C-6DC1-49E0-AB3F-800AA19AE513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10668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26575"/>
                </a:solidFill>
                <a:latin typeface="Aptos"/>
                <a:ea typeface="Aptos"/>
                <a:cs typeface="Aptos"/>
              </a:rPr>
              <a:t>Build useful capability in vertical slices while the reusable ETL system matures.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DF1DC38-CA7C-4CF0-A06E-119EA9D3E142}"/>
              </a:ext>
            </a:extLst>
          </p:cNvPr>
          <p:cNvSpPr>
            <a:spLocks noGrp="1"/>
          </p:cNvSpPr>
          <p:nvPr/>
        </p:nvSpPr>
        <p:spPr>
          <a:xfrm>
            <a:off x="609600" y="2266950"/>
            <a:ext cx="3048000" cy="2209800"/>
          </a:xfrm>
          <a:prstGeom prst="roundRect">
            <a:avLst>
              <a:gd name="adj" fmla="val 6897"/>
            </a:avLst>
          </a:prstGeom>
          <a:solidFill>
            <a:srgbClr val="F6F9FB"/>
          </a:solidFill>
          <a:ln w="9525">
            <a:solidFill>
              <a:srgbClr val="D3E0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4AFBE4-1987-4989-B905-533381C72D4D}"/>
              </a:ext>
            </a:extLst>
          </p:cNvPr>
          <p:cNvSpPr>
            <a:spLocks noGrp="1"/>
          </p:cNvSpPr>
          <p:nvPr/>
        </p:nvSpPr>
        <p:spPr>
          <a:xfrm>
            <a:off x="609600" y="2266950"/>
            <a:ext cx="3048000" cy="95250"/>
          </a:xfrm>
          <a:prstGeom prst="rect">
            <a:avLst/>
          </a:prstGeom>
          <a:solidFill>
            <a:srgbClr val="1E6FA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3BB68C-65C3-45D6-94A2-AE4F7FC1BBF5}"/>
              </a:ext>
            </a:extLst>
          </p:cNvPr>
          <p:cNvSpPr>
            <a:spLocks noGrp="1"/>
          </p:cNvSpPr>
          <p:nvPr/>
        </p:nvSpPr>
        <p:spPr>
          <a:xfrm>
            <a:off x="819150" y="2609850"/>
            <a:ext cx="26289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1E6FA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E6FA8"/>
                </a:solidFill>
                <a:latin typeface="Aptos"/>
                <a:ea typeface="Aptos"/>
                <a:cs typeface="Aptos"/>
              </a:rPr>
              <a:t>Outcome 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FE1F840-2990-4E83-8DC7-A4F3B9E8440D}"/>
              </a:ext>
            </a:extLst>
          </p:cNvPr>
          <p:cNvSpPr>
            <a:spLocks noGrp="1"/>
          </p:cNvSpPr>
          <p:nvPr/>
        </p:nvSpPr>
        <p:spPr>
          <a:xfrm>
            <a:off x="819150" y="3048000"/>
            <a:ext cx="26289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650" b="1">
                <a:solidFill>
                  <a:srgbClr val="12304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2304A"/>
                </a:solidFill>
                <a:latin typeface="Aptos"/>
                <a:ea typeface="Aptos"/>
                <a:cs typeface="Aptos"/>
              </a:rPr>
              <a:t>Run real HEC-RAS and HEC-HMS projects through a controlled Windows execution pool.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7800296-F7FC-4ECF-A6D6-B35E8464A56B}"/>
              </a:ext>
            </a:extLst>
          </p:cNvPr>
          <p:cNvSpPr>
            <a:spLocks noGrp="1"/>
          </p:cNvSpPr>
          <p:nvPr/>
        </p:nvSpPr>
        <p:spPr>
          <a:xfrm>
            <a:off x="4095750" y="2266950"/>
            <a:ext cx="3048000" cy="2209800"/>
          </a:xfrm>
          <a:prstGeom prst="roundRect">
            <a:avLst>
              <a:gd name="adj" fmla="val 6897"/>
            </a:avLst>
          </a:prstGeom>
          <a:solidFill>
            <a:srgbClr val="F6F9FB"/>
          </a:solidFill>
          <a:ln w="9525">
            <a:solidFill>
              <a:srgbClr val="D3E0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5C00B00-D392-4A4E-AC2E-4845673A3392}"/>
              </a:ext>
            </a:extLst>
          </p:cNvPr>
          <p:cNvSpPr>
            <a:spLocks noGrp="1"/>
          </p:cNvSpPr>
          <p:nvPr/>
        </p:nvSpPr>
        <p:spPr>
          <a:xfrm>
            <a:off x="4095750" y="2266950"/>
            <a:ext cx="3048000" cy="95250"/>
          </a:xfrm>
          <a:prstGeom prst="rect">
            <a:avLst/>
          </a:prstGeom>
          <a:solidFill>
            <a:srgbClr val="167C8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16406D8-A99F-410D-8D99-1B360618C05C}"/>
              </a:ext>
            </a:extLst>
          </p:cNvPr>
          <p:cNvSpPr>
            <a:spLocks noGrp="1"/>
          </p:cNvSpPr>
          <p:nvPr/>
        </p:nvSpPr>
        <p:spPr>
          <a:xfrm>
            <a:off x="4305300" y="2609850"/>
            <a:ext cx="26289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167C8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7C80"/>
                </a:solidFill>
                <a:latin typeface="Aptos"/>
                <a:ea typeface="Aptos"/>
                <a:cs typeface="Aptos"/>
              </a:rPr>
              <a:t>Outcome 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FCC1C2F-3AD4-4DE7-AD7D-EB3B129DF5A6}"/>
              </a:ext>
            </a:extLst>
          </p:cNvPr>
          <p:cNvSpPr>
            <a:spLocks noGrp="1"/>
          </p:cNvSpPr>
          <p:nvPr/>
        </p:nvSpPr>
        <p:spPr>
          <a:xfrm>
            <a:off x="4305300" y="3048000"/>
            <a:ext cx="26289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650" b="1">
                <a:solidFill>
                  <a:srgbClr val="12304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2304A"/>
                </a:solidFill>
                <a:latin typeface="Aptos"/>
                <a:ea typeface="Aptos"/>
                <a:cs typeface="Aptos"/>
              </a:rPr>
              <a:t>Convert native model outputs into registered, visualizations and reporting.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955F80E-D9EB-42C7-8E5B-7D09AFDEDE4D}"/>
              </a:ext>
            </a:extLst>
          </p:cNvPr>
          <p:cNvSpPr>
            <a:spLocks noGrp="1"/>
          </p:cNvSpPr>
          <p:nvPr/>
        </p:nvSpPr>
        <p:spPr>
          <a:xfrm>
            <a:off x="7581900" y="2266950"/>
            <a:ext cx="3048000" cy="2209800"/>
          </a:xfrm>
          <a:prstGeom prst="roundRect">
            <a:avLst>
              <a:gd name="adj" fmla="val 6897"/>
            </a:avLst>
          </a:prstGeom>
          <a:solidFill>
            <a:srgbClr val="F6F9FB"/>
          </a:solidFill>
          <a:ln w="9525">
            <a:solidFill>
              <a:srgbClr val="D3E0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23A7C6-4759-46E3-9C51-69D3A49E8CAF}"/>
              </a:ext>
            </a:extLst>
          </p:cNvPr>
          <p:cNvSpPr>
            <a:spLocks noGrp="1"/>
          </p:cNvSpPr>
          <p:nvPr/>
        </p:nvSpPr>
        <p:spPr>
          <a:xfrm>
            <a:off x="7581900" y="2266950"/>
            <a:ext cx="3048000" cy="95250"/>
          </a:xfrm>
          <a:prstGeom prst="rect">
            <a:avLst/>
          </a:prstGeom>
          <a:solidFill>
            <a:srgbClr val="3A9D7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5764918-5569-47B4-B713-16E315520FB3}"/>
              </a:ext>
            </a:extLst>
          </p:cNvPr>
          <p:cNvSpPr>
            <a:spLocks noGrp="1"/>
          </p:cNvSpPr>
          <p:nvPr/>
        </p:nvSpPr>
        <p:spPr>
          <a:xfrm>
            <a:off x="7791450" y="2609850"/>
            <a:ext cx="26289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3A9D7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A9D78"/>
                </a:solidFill>
                <a:latin typeface="Aptos"/>
                <a:ea typeface="Aptos"/>
                <a:cs typeface="Aptos"/>
              </a:rPr>
              <a:t>Outcome 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D2EB727-8731-4F92-81C0-84325624144C}"/>
              </a:ext>
            </a:extLst>
          </p:cNvPr>
          <p:cNvSpPr>
            <a:spLocks noGrp="1"/>
          </p:cNvSpPr>
          <p:nvPr/>
        </p:nvSpPr>
        <p:spPr>
          <a:xfrm>
            <a:off x="7791450" y="3048000"/>
            <a:ext cx="26289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650" b="1">
                <a:solidFill>
                  <a:srgbClr val="12304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2304A"/>
                </a:solidFill>
                <a:latin typeface="Aptos"/>
                <a:ea typeface="Aptos"/>
                <a:cs typeface="Aptos"/>
              </a:rPr>
              <a:t>Give TWDB reviewers a repeatable notebook and reporting workflow with visible QA/QC.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EEC20F4-68F6-4F50-808D-3E547331B55B}"/>
              </a:ext>
            </a:extLst>
          </p:cNvPr>
          <p:cNvSpPr>
            <a:spLocks noGrp="1"/>
          </p:cNvSpPr>
          <p:nvPr/>
        </p:nvSpPr>
        <p:spPr>
          <a:xfrm>
            <a:off x="609600" y="4933950"/>
            <a:ext cx="1714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1E6FA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E6FA8"/>
                </a:solidFill>
                <a:latin typeface="Aptos"/>
                <a:ea typeface="Aptos"/>
                <a:cs typeface="Aptos"/>
              </a:rPr>
              <a:t>Management rule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CC8E64B-BC93-49B1-B173-6BABDBC30454}"/>
              </a:ext>
            </a:extLst>
          </p:cNvPr>
          <p:cNvSpPr>
            <a:spLocks noGrp="1"/>
          </p:cNvSpPr>
          <p:nvPr/>
        </p:nvSpPr>
        <p:spPr>
          <a:xfrm>
            <a:off x="2324100" y="4876800"/>
            <a:ext cx="8572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85757"/>
          </a:bodyPr>
          <a:lstStyle/>
          <a:p>
            <a:pPr algn="l">
              <a:lnSpc>
                <a:spcPct val="105000"/>
              </a:lnSpc>
              <a:buNone/>
              <a:defRPr sz="16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B3A"/>
                </a:solidFill>
                <a:latin typeface="Aptos"/>
                <a:ea typeface="Aptos"/>
                <a:cs typeface="Aptos"/>
              </a:rPr>
              <a:t>Every phase ends with a usable capability, a reviewable artifact, and a go/no-go decision for the next layer.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B55F19F-CE35-4C45-8124-2F2157F28B78}"/>
              </a:ext>
            </a:extLst>
          </p:cNvPr>
          <p:cNvSpPr>
            <a:spLocks noGrp="1"/>
          </p:cNvSpPr>
          <p:nvPr/>
        </p:nvSpPr>
        <p:spPr>
          <a:xfrm>
            <a:off x="609600" y="6543675"/>
            <a:ext cx="38100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825" b="0">
                <a:solidFill>
                  <a:srgbClr val="7C8C9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C8C98"/>
                </a:solidFill>
                <a:latin typeface="Aptos"/>
                <a:ea typeface="Aptos"/>
                <a:cs typeface="Aptos"/>
              </a:rPr>
              <a:t>Project management view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5D3413A-9FFF-4216-9AE3-F3F205C187CA}"/>
              </a:ext>
            </a:extLst>
          </p:cNvPr>
          <p:cNvSpPr>
            <a:spLocks noGrp="1"/>
          </p:cNvSpPr>
          <p:nvPr/>
        </p:nvSpPr>
        <p:spPr>
          <a:xfrm>
            <a:off x="11239500" y="6515100"/>
            <a:ext cx="3429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00" b="1">
                <a:solidFill>
                  <a:srgbClr val="1E6FA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FA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617003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58">
            <a:extLst>
              <a:ext uri="{FF2B5EF4-FFF2-40B4-BE49-F238E27FC236}">
                <a16:creationId xmlns:a16="http://schemas.microsoft.com/office/drawing/2014/main" id="{F936D1A7-BC91-42E5-829E-51A1419CC4D4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00" b="1">
                <a:solidFill>
                  <a:srgbClr val="1E6FA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FA8"/>
                </a:solidFill>
                <a:latin typeface="Aptos"/>
                <a:ea typeface="Aptos"/>
                <a:cs typeface="Aptos"/>
              </a:rPr>
              <a:t>HEC-RAS ETL AUTOMATION PROGRAM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FE7BA3-FB94-4589-AA05-A5E8F4DAD9B0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572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12304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2304A"/>
                </a:solidFill>
                <a:latin typeface="Aptos"/>
                <a:ea typeface="Aptos"/>
                <a:cs typeface="Aptos"/>
              </a:rPr>
              <a:t>Target operating model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84CA76E4-887C-4A6C-A97C-A55F0E8311C5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10972800" cy="0"/>
          </a:xfrm>
          <a:prstGeom prst="line">
            <a:avLst/>
          </a:prstGeom>
          <a:noFill/>
          <a:ln w="19050">
            <a:solidFill>
              <a:srgbClr val="D3E0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ADF003-AA3C-4E45-B61E-F931F3DD9071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10668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2307" lnSpcReduction="20000"/>
          </a:bodyPr>
          <a:lstStyle/>
          <a:p>
            <a:pPr algn="l">
              <a:lnSpc>
                <a:spcPct val="105000"/>
              </a:lnSpc>
              <a:buNone/>
              <a:defRPr sz="1650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26575"/>
                </a:solidFill>
                <a:latin typeface="Aptos"/>
                <a:ea typeface="Aptos"/>
                <a:cs typeface="Aptos"/>
              </a:rPr>
              <a:t>DYNAMO registers the HEC-RAS app, ETL transforms, and visualization scripts; the model bridge maps them into a dataset for review.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9089AC6-A240-424E-B770-8AAE277FC33A}"/>
              </a:ext>
            </a:extLst>
          </p:cNvPr>
          <p:cNvSpPr>
            <a:spLocks noGrp="1"/>
          </p:cNvSpPr>
          <p:nvPr/>
        </p:nvSpPr>
        <p:spPr>
          <a:xfrm>
            <a:off x="609600" y="2000250"/>
            <a:ext cx="10934700" cy="1428750"/>
          </a:xfrm>
          <a:prstGeom prst="roundRect">
            <a:avLst>
              <a:gd name="adj" fmla="val 9333"/>
            </a:avLst>
          </a:prstGeom>
          <a:solidFill>
            <a:srgbClr val="F4F8FB"/>
          </a:solidFill>
          <a:ln w="9525">
            <a:solidFill>
              <a:srgbClr val="D3E0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76DB09-FDFA-4EED-BF28-000A2E9FB1E2}"/>
              </a:ext>
            </a:extLst>
          </p:cNvPr>
          <p:cNvSpPr>
            <a:spLocks noGrp="1"/>
          </p:cNvSpPr>
          <p:nvPr/>
        </p:nvSpPr>
        <p:spPr>
          <a:xfrm>
            <a:off x="781050" y="2057400"/>
            <a:ext cx="3238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1E6FA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6FA8"/>
                </a:solidFill>
                <a:latin typeface="Aptos"/>
                <a:ea typeface="Aptos"/>
                <a:cs typeface="Aptos"/>
              </a:rPr>
              <a:t>DYNAMO ARCHITECTURE + REGISTRIES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B4E507F-7A7B-4F18-9E98-EA79113EE12A}"/>
              </a:ext>
            </a:extLst>
          </p:cNvPr>
          <p:cNvSpPr>
            <a:spLocks noGrp="1"/>
          </p:cNvSpPr>
          <p:nvPr/>
        </p:nvSpPr>
        <p:spPr>
          <a:xfrm>
            <a:off x="609600" y="2381250"/>
            <a:ext cx="1752600" cy="838200"/>
          </a:xfrm>
          <a:prstGeom prst="roundRect">
            <a:avLst>
              <a:gd name="adj" fmla="val 20455"/>
            </a:avLst>
          </a:prstGeom>
          <a:solidFill>
            <a:srgbClr val="1E6FA8"/>
          </a:solidFill>
          <a:ln w="9525">
            <a:solidFill>
              <a:srgbClr val="1E6F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409E24-5000-40F4-9917-7C032A3452A8}"/>
              </a:ext>
            </a:extLst>
          </p:cNvPr>
          <p:cNvSpPr>
            <a:spLocks noGrp="1"/>
          </p:cNvSpPr>
          <p:nvPr/>
        </p:nvSpPr>
        <p:spPr>
          <a:xfrm>
            <a:off x="762000" y="2514600"/>
            <a:ext cx="1447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DYNAMO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3A77A1F-79EB-429C-9FF3-E076DD4FEDB8}"/>
              </a:ext>
            </a:extLst>
          </p:cNvPr>
          <p:cNvSpPr>
            <a:spLocks noGrp="1"/>
          </p:cNvSpPr>
          <p:nvPr/>
        </p:nvSpPr>
        <p:spPr>
          <a:xfrm>
            <a:off x="762000" y="2857500"/>
            <a:ext cx="14478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68783" lnSpcReduction="10000"/>
          </a:bodyPr>
          <a:lstStyle/>
          <a:p>
            <a:pPr algn="ctr">
              <a:lnSpc>
                <a:spcPct val="105000"/>
              </a:lnSpc>
              <a:buNone/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Platform + API</a:t>
            </a:r>
          </a:p>
          <a:p>
            <a:pPr algn="ctr">
              <a:lnSpc>
                <a:spcPct val="105000"/>
              </a:lnSpc>
              <a:buNone/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Problem formulation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9DA5E73-49B7-4525-B9F7-15C8DF8C672C}"/>
              </a:ext>
            </a:extLst>
          </p:cNvPr>
          <p:cNvSpPr>
            <a:spLocks noGrp="1"/>
          </p:cNvSpPr>
          <p:nvPr/>
        </p:nvSpPr>
        <p:spPr>
          <a:xfrm>
            <a:off x="2667000" y="2305050"/>
            <a:ext cx="2857500" cy="990600"/>
          </a:xfrm>
          <a:prstGeom prst="roundRect">
            <a:avLst>
              <a:gd name="adj" fmla="val 17308"/>
            </a:avLst>
          </a:prstGeom>
          <a:solidFill>
            <a:srgbClr val="3A9D78"/>
          </a:solidFill>
          <a:ln w="9525">
            <a:solidFill>
              <a:srgbClr val="3A9D7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BE59D84-A1CE-438E-A035-E0823D301518}"/>
              </a:ext>
            </a:extLst>
          </p:cNvPr>
          <p:cNvSpPr>
            <a:spLocks noGrp="1"/>
          </p:cNvSpPr>
          <p:nvPr/>
        </p:nvSpPr>
        <p:spPr>
          <a:xfrm>
            <a:off x="2819400" y="2438400"/>
            <a:ext cx="25527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DYNAMO Model Bridge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0CDA7B-553A-432B-9478-72E09F2EF6AB}"/>
              </a:ext>
            </a:extLst>
          </p:cNvPr>
          <p:cNvSpPr>
            <a:spLocks noGrp="1"/>
          </p:cNvSpPr>
          <p:nvPr/>
        </p:nvSpPr>
        <p:spPr>
          <a:xfrm>
            <a:off x="2819400" y="2781300"/>
            <a:ext cx="25527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Maps deconstructed execution,</a:t>
            </a:r>
          </a:p>
          <a:p>
            <a:pPr algn="ctr">
              <a:lnSpc>
                <a:spcPct val="105000"/>
              </a:lnSpc>
              <a:buNone/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ETL, and visualization pieces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A8D443F-6143-447F-BEE1-1A997679018E}"/>
              </a:ext>
            </a:extLst>
          </p:cNvPr>
          <p:cNvSpPr>
            <a:spLocks noGrp="1"/>
          </p:cNvSpPr>
          <p:nvPr/>
        </p:nvSpPr>
        <p:spPr>
          <a:xfrm>
            <a:off x="5829300" y="2228850"/>
            <a:ext cx="5524500" cy="108585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167C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80B6799-92F9-4ECD-BB8B-8D833D226145}"/>
              </a:ext>
            </a:extLst>
          </p:cNvPr>
          <p:cNvSpPr>
            <a:spLocks noGrp="1"/>
          </p:cNvSpPr>
          <p:nvPr/>
        </p:nvSpPr>
        <p:spPr>
          <a:xfrm>
            <a:off x="6019800" y="2305050"/>
            <a:ext cx="2095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167C8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7C80"/>
                </a:solidFill>
                <a:latin typeface="Aptos"/>
                <a:ea typeface="Aptos"/>
                <a:cs typeface="Aptos"/>
              </a:rPr>
              <a:t>DYNAMO registries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EEAD88C1-796E-4463-91CA-B22D81A3CB33}"/>
              </a:ext>
            </a:extLst>
          </p:cNvPr>
          <p:cNvSpPr>
            <a:spLocks noGrp="1"/>
          </p:cNvSpPr>
          <p:nvPr/>
        </p:nvSpPr>
        <p:spPr>
          <a:xfrm>
            <a:off x="7658100" y="2495550"/>
            <a:ext cx="0" cy="666750"/>
          </a:xfrm>
          <a:prstGeom prst="line">
            <a:avLst/>
          </a:prstGeom>
          <a:noFill/>
          <a:ln w="9525">
            <a:solidFill>
              <a:srgbClr val="D3E0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6024C216-69F8-4F4A-BC70-FF5710AA2561}"/>
              </a:ext>
            </a:extLst>
          </p:cNvPr>
          <p:cNvSpPr>
            <a:spLocks noGrp="1"/>
          </p:cNvSpPr>
          <p:nvPr/>
        </p:nvSpPr>
        <p:spPr>
          <a:xfrm>
            <a:off x="9505950" y="2495550"/>
            <a:ext cx="0" cy="666750"/>
          </a:xfrm>
          <a:prstGeom prst="line">
            <a:avLst/>
          </a:prstGeom>
          <a:noFill/>
          <a:ln w="9525">
            <a:solidFill>
              <a:srgbClr val="D3E0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7401256-FA57-45F0-8FC8-FEBACD5C6FA3}"/>
              </a:ext>
            </a:extLst>
          </p:cNvPr>
          <p:cNvSpPr>
            <a:spLocks noGrp="1"/>
          </p:cNvSpPr>
          <p:nvPr/>
        </p:nvSpPr>
        <p:spPr>
          <a:xfrm>
            <a:off x="5981700" y="2571750"/>
            <a:ext cx="1619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4246"/>
          </a:bodyPr>
          <a:lstStyle/>
          <a:p>
            <a:pPr algn="ctr">
              <a:lnSpc>
                <a:spcPct val="105000"/>
              </a:lnSpc>
              <a:buNone/>
              <a:defRPr sz="1200" b="1">
                <a:solidFill>
                  <a:srgbClr val="167C8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7C80"/>
                </a:solidFill>
                <a:latin typeface="Aptos"/>
                <a:ea typeface="Aptos"/>
                <a:cs typeface="Aptos"/>
              </a:rPr>
              <a:t>HEC-RAS Run</a:t>
            </a:r>
          </a:p>
          <a:p>
            <a:pPr algn="ctr">
              <a:lnSpc>
                <a:spcPct val="105000"/>
              </a:lnSpc>
              <a:buNone/>
              <a:defRPr sz="1200" b="1">
                <a:solidFill>
                  <a:srgbClr val="167C8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7C80"/>
                </a:solidFill>
                <a:latin typeface="Aptos"/>
                <a:ea typeface="Aptos"/>
                <a:cs typeface="Aptos"/>
              </a:rPr>
              <a:t>Orchestrator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72A449A-22E7-4C89-A97D-89A03858D5A7}"/>
              </a:ext>
            </a:extLst>
          </p:cNvPr>
          <p:cNvSpPr>
            <a:spLocks noGrp="1"/>
          </p:cNvSpPr>
          <p:nvPr/>
        </p:nvSpPr>
        <p:spPr>
          <a:xfrm>
            <a:off x="5981700" y="3000375"/>
            <a:ext cx="161925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900" b="0">
                <a:solidFill>
                  <a:srgbClr val="167C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67C80"/>
                </a:solidFill>
                <a:latin typeface="Aptos"/>
                <a:ea typeface="Aptos"/>
                <a:cs typeface="Aptos"/>
              </a:rPr>
              <a:t>Registered app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8657648-8B88-4777-8147-7308C1B2C6F4}"/>
              </a:ext>
            </a:extLst>
          </p:cNvPr>
          <p:cNvSpPr>
            <a:spLocks noGrp="1"/>
          </p:cNvSpPr>
          <p:nvPr/>
        </p:nvSpPr>
        <p:spPr>
          <a:xfrm>
            <a:off x="7810500" y="2647950"/>
            <a:ext cx="1524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>
                <a:solidFill>
                  <a:srgbClr val="3A9D7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A9D78"/>
                </a:solidFill>
                <a:latin typeface="Aptos"/>
                <a:ea typeface="Aptos"/>
                <a:cs typeface="Aptos"/>
              </a:rPr>
              <a:t>ETL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41CD26B-713C-415D-9516-6766C3B6E582}"/>
              </a:ext>
            </a:extLst>
          </p:cNvPr>
          <p:cNvSpPr>
            <a:spLocks noGrp="1"/>
          </p:cNvSpPr>
          <p:nvPr/>
        </p:nvSpPr>
        <p:spPr>
          <a:xfrm>
            <a:off x="7810500" y="3000375"/>
            <a:ext cx="15240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900" b="0">
                <a:solidFill>
                  <a:srgbClr val="3A9D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A9D78"/>
                </a:solidFill>
                <a:latin typeface="Aptos"/>
                <a:ea typeface="Aptos"/>
                <a:cs typeface="Aptos"/>
              </a:rPr>
              <a:t>Registered transform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DD89490-9182-4199-B4E7-88EAB48B16CB}"/>
              </a:ext>
            </a:extLst>
          </p:cNvPr>
          <p:cNvSpPr>
            <a:spLocks noGrp="1"/>
          </p:cNvSpPr>
          <p:nvPr/>
        </p:nvSpPr>
        <p:spPr>
          <a:xfrm>
            <a:off x="9639300" y="2647950"/>
            <a:ext cx="1619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>
                <a:solidFill>
                  <a:srgbClr val="40A9C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0A9C7"/>
                </a:solidFill>
                <a:latin typeface="Aptos"/>
                <a:ea typeface="Aptos"/>
                <a:cs typeface="Aptos"/>
              </a:rPr>
              <a:t>Visualization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BE8BACB-5CAA-44B7-9C95-8C22AE222289}"/>
              </a:ext>
            </a:extLst>
          </p:cNvPr>
          <p:cNvSpPr>
            <a:spLocks noGrp="1"/>
          </p:cNvSpPr>
          <p:nvPr/>
        </p:nvSpPr>
        <p:spPr>
          <a:xfrm>
            <a:off x="9639300" y="3000375"/>
            <a:ext cx="161925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900" b="0">
                <a:solidFill>
                  <a:srgbClr val="40A9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0A9C7"/>
                </a:solidFill>
                <a:latin typeface="Aptos"/>
                <a:ea typeface="Aptos"/>
                <a:cs typeface="Aptos"/>
              </a:rPr>
              <a:t>Registered view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9429D3EF-A87A-4D41-8447-7D8199D35549}"/>
              </a:ext>
            </a:extLst>
          </p:cNvPr>
          <p:cNvSpPr>
            <a:spLocks noGrp="1"/>
          </p:cNvSpPr>
          <p:nvPr/>
        </p:nvSpPr>
        <p:spPr>
          <a:xfrm>
            <a:off x="609600" y="3600450"/>
            <a:ext cx="10934700" cy="1104900"/>
          </a:xfrm>
          <a:prstGeom prst="roundRect">
            <a:avLst>
              <a:gd name="adj" fmla="val 12069"/>
            </a:avLst>
          </a:prstGeom>
          <a:solidFill>
            <a:srgbClr val="FFF8ED"/>
          </a:solidFill>
          <a:ln w="9525">
            <a:solidFill>
              <a:srgbClr val="D3E0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A305C18-81CA-4FC2-A20C-3A7534E18D61}"/>
              </a:ext>
            </a:extLst>
          </p:cNvPr>
          <p:cNvSpPr>
            <a:spLocks noGrp="1"/>
          </p:cNvSpPr>
          <p:nvPr/>
        </p:nvSpPr>
        <p:spPr>
          <a:xfrm>
            <a:off x="781050" y="3657600"/>
            <a:ext cx="2095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E6A23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6A23C"/>
                </a:solidFill>
                <a:latin typeface="Aptos"/>
                <a:ea typeface="Aptos"/>
                <a:cs typeface="Aptos"/>
              </a:rPr>
              <a:t>HEC-RAS EXECUTION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F979BFF9-6CA9-47EF-80C8-69E65A9C1071}"/>
              </a:ext>
            </a:extLst>
          </p:cNvPr>
          <p:cNvSpPr>
            <a:spLocks noGrp="1"/>
          </p:cNvSpPr>
          <p:nvPr/>
        </p:nvSpPr>
        <p:spPr>
          <a:xfrm>
            <a:off x="2667000" y="3771900"/>
            <a:ext cx="2190750" cy="876300"/>
          </a:xfrm>
          <a:prstGeom prst="roundRect">
            <a:avLst>
              <a:gd name="adj" fmla="val 19565"/>
            </a:avLst>
          </a:prstGeom>
          <a:solidFill>
            <a:srgbClr val="E6A23C"/>
          </a:solidFill>
          <a:ln w="9525">
            <a:solidFill>
              <a:srgbClr val="E6A2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CA861C1-AE25-4EF7-868A-6BC07FB92138}"/>
              </a:ext>
            </a:extLst>
          </p:cNvPr>
          <p:cNvSpPr>
            <a:spLocks noGrp="1"/>
          </p:cNvSpPr>
          <p:nvPr/>
        </p:nvSpPr>
        <p:spPr>
          <a:xfrm>
            <a:off x="2819400" y="3905250"/>
            <a:ext cx="18859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425" b="1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B3A"/>
                </a:solidFill>
                <a:latin typeface="Aptos"/>
                <a:ea typeface="Aptos"/>
                <a:cs typeface="Aptos"/>
              </a:rPr>
              <a:t>Windows worker pool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F17D932-79FD-44F7-8E91-D71A777C3A16}"/>
              </a:ext>
            </a:extLst>
          </p:cNvPr>
          <p:cNvSpPr>
            <a:spLocks noGrp="1"/>
          </p:cNvSpPr>
          <p:nvPr/>
        </p:nvSpPr>
        <p:spPr>
          <a:xfrm>
            <a:off x="2819400" y="4248150"/>
            <a:ext cx="18859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86865" lnSpcReduction="20000"/>
          </a:bodyPr>
          <a:lstStyle/>
          <a:p>
            <a:pPr algn="ctr">
              <a:lnSpc>
                <a:spcPct val="105000"/>
              </a:lnSpc>
              <a:buNone/>
              <a:defRPr sz="112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B3A"/>
                </a:solidFill>
                <a:latin typeface="Aptos"/>
                <a:ea typeface="Aptos"/>
                <a:cs typeface="Aptos"/>
              </a:rPr>
              <a:t>Pull + stage</a:t>
            </a:r>
          </a:p>
          <a:p>
            <a:pPr algn="ctr">
              <a:lnSpc>
                <a:spcPct val="105000"/>
              </a:lnSpc>
              <a:buNone/>
              <a:defRPr sz="112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B3A"/>
                </a:solidFill>
                <a:latin typeface="Aptos"/>
                <a:ea typeface="Aptos"/>
                <a:cs typeface="Aptos"/>
              </a:rPr>
              <a:t>Heartbeat + logs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6CA3F111-8F1B-44BB-A4D4-1809D03B17D9}"/>
              </a:ext>
            </a:extLst>
          </p:cNvPr>
          <p:cNvSpPr>
            <a:spLocks noGrp="1"/>
          </p:cNvSpPr>
          <p:nvPr/>
        </p:nvSpPr>
        <p:spPr>
          <a:xfrm>
            <a:off x="5105400" y="3771900"/>
            <a:ext cx="2095500" cy="876300"/>
          </a:xfrm>
          <a:prstGeom prst="roundRect">
            <a:avLst>
              <a:gd name="adj" fmla="val 19565"/>
            </a:avLst>
          </a:prstGeom>
          <a:solidFill>
            <a:srgbClr val="D96555"/>
          </a:solidFill>
          <a:ln w="9525">
            <a:solidFill>
              <a:srgbClr val="D965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EE1669E-204E-4E4A-AD14-6E8AE53AAD1D}"/>
              </a:ext>
            </a:extLst>
          </p:cNvPr>
          <p:cNvSpPr>
            <a:spLocks noGrp="1"/>
          </p:cNvSpPr>
          <p:nvPr/>
        </p:nvSpPr>
        <p:spPr>
          <a:xfrm>
            <a:off x="5257800" y="3905250"/>
            <a:ext cx="17907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HEC-RAS run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C14C914-EC17-414F-80F4-2F88A56CD2AD}"/>
              </a:ext>
            </a:extLst>
          </p:cNvPr>
          <p:cNvSpPr>
            <a:spLocks noGrp="1"/>
          </p:cNvSpPr>
          <p:nvPr/>
        </p:nvSpPr>
        <p:spPr>
          <a:xfrm>
            <a:off x="5257800" y="4248150"/>
            <a:ext cx="17907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86865" lnSpcReduction="20000"/>
          </a:bodyPr>
          <a:lstStyle/>
          <a:p>
            <a:pPr algn="ctr">
              <a:lnSpc>
                <a:spcPct val="105000"/>
              </a:lnSpc>
              <a:buNone/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RasCommander</a:t>
            </a:r>
          </a:p>
          <a:p>
            <a:pPr algn="ctr">
              <a:lnSpc>
                <a:spcPct val="105000"/>
              </a:lnSpc>
              <a:buNone/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Versioned plan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78872217-B696-4983-A454-00CF568D600B}"/>
              </a:ext>
            </a:extLst>
          </p:cNvPr>
          <p:cNvSpPr>
            <a:spLocks noGrp="1"/>
          </p:cNvSpPr>
          <p:nvPr/>
        </p:nvSpPr>
        <p:spPr>
          <a:xfrm>
            <a:off x="7448550" y="3771900"/>
            <a:ext cx="2095500" cy="876300"/>
          </a:xfrm>
          <a:prstGeom prst="roundRect">
            <a:avLst>
              <a:gd name="adj" fmla="val 19565"/>
            </a:avLst>
          </a:prstGeom>
          <a:solidFill>
            <a:srgbClr val="D96555"/>
          </a:solidFill>
          <a:ln w="9525">
            <a:solidFill>
              <a:srgbClr val="D965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25CDCBB-D957-459A-8E15-F88AB3BE1AC0}"/>
              </a:ext>
            </a:extLst>
          </p:cNvPr>
          <p:cNvSpPr>
            <a:spLocks noGrp="1"/>
          </p:cNvSpPr>
          <p:nvPr/>
        </p:nvSpPr>
        <p:spPr>
          <a:xfrm>
            <a:off x="7600950" y="3905250"/>
            <a:ext cx="17907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Run files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4616B2C-F387-474B-807B-3C911CD3F947}"/>
              </a:ext>
            </a:extLst>
          </p:cNvPr>
          <p:cNvSpPr>
            <a:spLocks noGrp="1"/>
          </p:cNvSpPr>
          <p:nvPr/>
        </p:nvSpPr>
        <p:spPr>
          <a:xfrm>
            <a:off x="7600950" y="4248150"/>
            <a:ext cx="17907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86865" lnSpcReduction="20000"/>
          </a:bodyPr>
          <a:lstStyle/>
          <a:p>
            <a:pPr algn="ctr">
              <a:lnSpc>
                <a:spcPct val="105000"/>
              </a:lnSpc>
              <a:buNone/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HDF / geometry</a:t>
            </a:r>
          </a:p>
          <a:p>
            <a:pPr algn="ctr">
              <a:lnSpc>
                <a:spcPct val="105000"/>
              </a:lnSpc>
              <a:buNone/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Logs + metrics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3A35E310-D4E3-44BB-862A-11E993E18AF4}"/>
              </a:ext>
            </a:extLst>
          </p:cNvPr>
          <p:cNvSpPr>
            <a:spLocks noGrp="1"/>
          </p:cNvSpPr>
          <p:nvPr/>
        </p:nvSpPr>
        <p:spPr>
          <a:xfrm>
            <a:off x="609600" y="4876800"/>
            <a:ext cx="10934700" cy="1371600"/>
          </a:xfrm>
          <a:prstGeom prst="roundRect">
            <a:avLst>
              <a:gd name="adj" fmla="val 9722"/>
            </a:avLst>
          </a:prstGeom>
          <a:solidFill>
            <a:srgbClr val="EEF8F3"/>
          </a:solidFill>
          <a:ln w="9525">
            <a:solidFill>
              <a:srgbClr val="D3E0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28270F2-25B1-420D-9760-8C8094B6E83A}"/>
              </a:ext>
            </a:extLst>
          </p:cNvPr>
          <p:cNvSpPr>
            <a:spLocks noGrp="1"/>
          </p:cNvSpPr>
          <p:nvPr/>
        </p:nvSpPr>
        <p:spPr>
          <a:xfrm>
            <a:off x="781050" y="4933950"/>
            <a:ext cx="2095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3A9D7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A9D78"/>
                </a:solidFill>
                <a:latin typeface="Aptos"/>
                <a:ea typeface="Aptos"/>
                <a:cs typeface="Aptos"/>
              </a:rPr>
              <a:t>DATASET + REVIEW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6F2A6CE9-2445-4F41-930E-A96D995F294C}"/>
              </a:ext>
            </a:extLst>
          </p:cNvPr>
          <p:cNvSpPr>
            <a:spLocks noGrp="1"/>
          </p:cNvSpPr>
          <p:nvPr/>
        </p:nvSpPr>
        <p:spPr>
          <a:xfrm>
            <a:off x="2667000" y="5124450"/>
            <a:ext cx="2190750" cy="876300"/>
          </a:xfrm>
          <a:prstGeom prst="roundRect">
            <a:avLst>
              <a:gd name="adj" fmla="val 19565"/>
            </a:avLst>
          </a:prstGeom>
          <a:solidFill>
            <a:srgbClr val="3A9D78"/>
          </a:solidFill>
          <a:ln w="9525">
            <a:solidFill>
              <a:srgbClr val="3A9D7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54450C7-C9A4-4A39-8AE9-73887D908929}"/>
              </a:ext>
            </a:extLst>
          </p:cNvPr>
          <p:cNvSpPr>
            <a:spLocks noGrp="1"/>
          </p:cNvSpPr>
          <p:nvPr/>
        </p:nvSpPr>
        <p:spPr>
          <a:xfrm>
            <a:off x="2819400" y="5257800"/>
            <a:ext cx="18859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Registered ETL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63FC11A-0D90-4E14-8CF9-F5C2B051C318}"/>
              </a:ext>
            </a:extLst>
          </p:cNvPr>
          <p:cNvSpPr>
            <a:spLocks noGrp="1"/>
          </p:cNvSpPr>
          <p:nvPr/>
        </p:nvSpPr>
        <p:spPr>
          <a:xfrm>
            <a:off x="2819400" y="5600700"/>
            <a:ext cx="18859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86865" lnSpcReduction="20000"/>
          </a:bodyPr>
          <a:lstStyle/>
          <a:p>
            <a:pPr algn="ctr">
              <a:lnSpc>
                <a:spcPct val="105000"/>
              </a:lnSpc>
              <a:buNone/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Python transform</a:t>
            </a:r>
          </a:p>
          <a:p>
            <a:pPr algn="ctr">
              <a:lnSpc>
                <a:spcPct val="105000"/>
              </a:lnSpc>
              <a:buNone/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Write dataset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A20C0E04-B8A9-4BE4-B240-B03072E6BA82}"/>
              </a:ext>
            </a:extLst>
          </p:cNvPr>
          <p:cNvSpPr>
            <a:spLocks noGrp="1"/>
          </p:cNvSpPr>
          <p:nvPr/>
        </p:nvSpPr>
        <p:spPr>
          <a:xfrm>
            <a:off x="5105400" y="5124450"/>
            <a:ext cx="2095500" cy="876300"/>
          </a:xfrm>
          <a:prstGeom prst="roundRect">
            <a:avLst>
              <a:gd name="adj" fmla="val 19565"/>
            </a:avLst>
          </a:prstGeom>
          <a:solidFill>
            <a:srgbClr val="1E6FA8"/>
          </a:solidFill>
          <a:ln w="9525">
            <a:solidFill>
              <a:srgbClr val="1E6F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D3C703E-F2F0-4FC3-98F7-7D05F44D81D5}"/>
              </a:ext>
            </a:extLst>
          </p:cNvPr>
          <p:cNvSpPr>
            <a:spLocks noGrp="1"/>
          </p:cNvSpPr>
          <p:nvPr/>
        </p:nvSpPr>
        <p:spPr>
          <a:xfrm>
            <a:off x="5257800" y="5257800"/>
            <a:ext cx="17907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Dataset output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D94C1D0-502B-4EA0-B86F-06B7D985F488}"/>
              </a:ext>
            </a:extLst>
          </p:cNvPr>
          <p:cNvSpPr>
            <a:spLocks noGrp="1"/>
          </p:cNvSpPr>
          <p:nvPr/>
        </p:nvSpPr>
        <p:spPr>
          <a:xfrm>
            <a:off x="5257800" y="5600700"/>
            <a:ext cx="17907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86865" lnSpcReduction="20000"/>
          </a:bodyPr>
          <a:lstStyle/>
          <a:p>
            <a:pPr algn="ctr">
              <a:lnSpc>
                <a:spcPct val="105000"/>
              </a:lnSpc>
              <a:buNone/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Canonical variables</a:t>
            </a:r>
          </a:p>
          <a:p>
            <a:pPr algn="ctr">
              <a:lnSpc>
                <a:spcPct val="105000"/>
              </a:lnSpc>
              <a:buNone/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Geometry + metadata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20852A3B-B977-45CE-A93F-87C6A60C5ADE}"/>
              </a:ext>
            </a:extLst>
          </p:cNvPr>
          <p:cNvSpPr>
            <a:spLocks noGrp="1"/>
          </p:cNvSpPr>
          <p:nvPr/>
        </p:nvSpPr>
        <p:spPr>
          <a:xfrm>
            <a:off x="7448550" y="5124450"/>
            <a:ext cx="2095500" cy="876300"/>
          </a:xfrm>
          <a:prstGeom prst="roundRect">
            <a:avLst>
              <a:gd name="adj" fmla="val 19565"/>
            </a:avLst>
          </a:prstGeom>
          <a:solidFill>
            <a:srgbClr val="12304A"/>
          </a:solidFill>
          <a:ln w="9525">
            <a:solidFill>
              <a:srgbClr val="1230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7B3A5B1-5725-4694-AD33-BC6BCD1600E0}"/>
              </a:ext>
            </a:extLst>
          </p:cNvPr>
          <p:cNvSpPr>
            <a:spLocks noGrp="1"/>
          </p:cNvSpPr>
          <p:nvPr/>
        </p:nvSpPr>
        <p:spPr>
          <a:xfrm>
            <a:off x="7600950" y="5257800"/>
            <a:ext cx="17907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TWDB / Jupyter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590E90B-8912-4863-A5FA-DD1167722F35}"/>
              </a:ext>
            </a:extLst>
          </p:cNvPr>
          <p:cNvSpPr>
            <a:spLocks noGrp="1"/>
          </p:cNvSpPr>
          <p:nvPr/>
        </p:nvSpPr>
        <p:spPr>
          <a:xfrm>
            <a:off x="7600950" y="5600700"/>
            <a:ext cx="17907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86865" lnSpcReduction="20000"/>
          </a:bodyPr>
          <a:lstStyle/>
          <a:p>
            <a:pPr algn="ctr">
              <a:lnSpc>
                <a:spcPct val="105000"/>
              </a:lnSpc>
              <a:buNone/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Dataset review</a:t>
            </a:r>
          </a:p>
          <a:p>
            <a:pPr algn="ctr">
              <a:lnSpc>
                <a:spcPct val="105000"/>
              </a:lnSpc>
              <a:buNone/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Maps + metrics</a:t>
            </a:r>
          </a:p>
        </p:txBody>
      </p:sp>
      <p:sp>
        <p:nvSpPr>
          <p:cNvPr id="45" name="Right Arrow 44">
            <a:extLst>
              <a:ext uri="{FF2B5EF4-FFF2-40B4-BE49-F238E27FC236}">
                <a16:creationId xmlns:a16="http://schemas.microsoft.com/office/drawing/2014/main" id="{24E295E8-6387-402E-99B2-2D1C0D773D71}"/>
              </a:ext>
            </a:extLst>
          </p:cNvPr>
          <p:cNvSpPr>
            <a:spLocks noGrp="1"/>
          </p:cNvSpPr>
          <p:nvPr/>
        </p:nvSpPr>
        <p:spPr>
          <a:xfrm>
            <a:off x="2400300" y="2724150"/>
            <a:ext cx="209550" cy="152400"/>
          </a:xfrm>
          <a:prstGeom prst="rightArrow">
            <a:avLst/>
          </a:prstGeom>
          <a:solidFill>
            <a:srgbClr val="1E6FA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6" name="Right Arrow 45">
            <a:extLst>
              <a:ext uri="{FF2B5EF4-FFF2-40B4-BE49-F238E27FC236}">
                <a16:creationId xmlns:a16="http://schemas.microsoft.com/office/drawing/2014/main" id="{00077811-0FF4-482A-9839-E0FC948670D3}"/>
              </a:ext>
            </a:extLst>
          </p:cNvPr>
          <p:cNvSpPr>
            <a:spLocks noGrp="1"/>
          </p:cNvSpPr>
          <p:nvPr/>
        </p:nvSpPr>
        <p:spPr>
          <a:xfrm>
            <a:off x="5581650" y="2724150"/>
            <a:ext cx="209550" cy="152400"/>
          </a:xfrm>
          <a:prstGeom prst="rightArrow">
            <a:avLst/>
          </a:prstGeom>
          <a:solidFill>
            <a:srgbClr val="3A9D7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7" name="Straight Connector 46">
            <a:extLst>
              <a:ext uri="{FF2B5EF4-FFF2-40B4-BE49-F238E27FC236}">
                <a16:creationId xmlns:a16="http://schemas.microsoft.com/office/drawing/2014/main" id="{C94A30EC-FD7F-468B-82F9-F921399A3558}"/>
              </a:ext>
            </a:extLst>
          </p:cNvPr>
          <p:cNvSpPr>
            <a:spLocks noGrp="1"/>
          </p:cNvSpPr>
          <p:nvPr/>
        </p:nvSpPr>
        <p:spPr>
          <a:xfrm>
            <a:off x="6800850" y="3314700"/>
            <a:ext cx="0" cy="457200"/>
          </a:xfrm>
          <a:prstGeom prst="line">
            <a:avLst/>
          </a:prstGeom>
          <a:noFill/>
          <a:ln w="19050">
            <a:solidFill>
              <a:srgbClr val="167C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C134747-3987-4B3F-9327-5B55177C84D3}"/>
              </a:ext>
            </a:extLst>
          </p:cNvPr>
          <p:cNvSpPr>
            <a:spLocks noGrp="1"/>
          </p:cNvSpPr>
          <p:nvPr/>
        </p:nvSpPr>
        <p:spPr>
          <a:xfrm>
            <a:off x="6896100" y="3429000"/>
            <a:ext cx="66675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825" b="1">
                <a:solidFill>
                  <a:srgbClr val="167C8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67C80"/>
                </a:solidFill>
                <a:latin typeface="Aptos"/>
                <a:ea typeface="Aptos"/>
                <a:cs typeface="Aptos"/>
              </a:rPr>
              <a:t>dispatch</a:t>
            </a:r>
          </a:p>
        </p:txBody>
      </p:sp>
      <p:sp>
        <p:nvSpPr>
          <p:cNvPr id="49" name="Right Arrow 48">
            <a:extLst>
              <a:ext uri="{FF2B5EF4-FFF2-40B4-BE49-F238E27FC236}">
                <a16:creationId xmlns:a16="http://schemas.microsoft.com/office/drawing/2014/main" id="{3A347C4D-7A4C-4FA4-817F-EB13929A018D}"/>
              </a:ext>
            </a:extLst>
          </p:cNvPr>
          <p:cNvSpPr>
            <a:spLocks noGrp="1"/>
          </p:cNvSpPr>
          <p:nvPr/>
        </p:nvSpPr>
        <p:spPr>
          <a:xfrm>
            <a:off x="4914900" y="4133850"/>
            <a:ext cx="190500" cy="152400"/>
          </a:xfrm>
          <a:prstGeom prst="rightArrow">
            <a:avLst/>
          </a:prstGeom>
          <a:solidFill>
            <a:srgbClr val="E6A23C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50" name="Right Arrow 49">
            <a:extLst>
              <a:ext uri="{FF2B5EF4-FFF2-40B4-BE49-F238E27FC236}">
                <a16:creationId xmlns:a16="http://schemas.microsoft.com/office/drawing/2014/main" id="{6ACB4685-8513-419F-B5A3-407B70EAFFB2}"/>
              </a:ext>
            </a:extLst>
          </p:cNvPr>
          <p:cNvSpPr>
            <a:spLocks noGrp="1"/>
          </p:cNvSpPr>
          <p:nvPr/>
        </p:nvSpPr>
        <p:spPr>
          <a:xfrm>
            <a:off x="7258050" y="4133850"/>
            <a:ext cx="190500" cy="152400"/>
          </a:xfrm>
          <a:prstGeom prst="rightArrow">
            <a:avLst/>
          </a:prstGeom>
          <a:solidFill>
            <a:srgbClr val="D96555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51" name="Straight Connector 50">
            <a:extLst>
              <a:ext uri="{FF2B5EF4-FFF2-40B4-BE49-F238E27FC236}">
                <a16:creationId xmlns:a16="http://schemas.microsoft.com/office/drawing/2014/main" id="{80BE02B0-482A-4FA3-9B5F-F4F502839CEF}"/>
              </a:ext>
            </a:extLst>
          </p:cNvPr>
          <p:cNvSpPr>
            <a:spLocks noGrp="1"/>
          </p:cNvSpPr>
          <p:nvPr/>
        </p:nvSpPr>
        <p:spPr>
          <a:xfrm>
            <a:off x="8496300" y="4648200"/>
            <a:ext cx="0" cy="419100"/>
          </a:xfrm>
          <a:prstGeom prst="line">
            <a:avLst/>
          </a:prstGeom>
          <a:noFill/>
          <a:ln w="19050">
            <a:solidFill>
              <a:srgbClr val="D965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Straight Connector 51">
            <a:extLst>
              <a:ext uri="{FF2B5EF4-FFF2-40B4-BE49-F238E27FC236}">
                <a16:creationId xmlns:a16="http://schemas.microsoft.com/office/drawing/2014/main" id="{C9A34A4D-2F5F-4824-917C-72CB13882DD7}"/>
              </a:ext>
            </a:extLst>
          </p:cNvPr>
          <p:cNvSpPr>
            <a:spLocks noGrp="1"/>
          </p:cNvSpPr>
          <p:nvPr/>
        </p:nvSpPr>
        <p:spPr>
          <a:xfrm>
            <a:off x="3657600" y="4952999"/>
            <a:ext cx="4838700" cy="0"/>
          </a:xfrm>
          <a:prstGeom prst="line">
            <a:avLst/>
          </a:prstGeom>
          <a:noFill/>
          <a:ln w="19050">
            <a:solidFill>
              <a:srgbClr val="D965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Left Arrow 52">
            <a:extLst>
              <a:ext uri="{FF2B5EF4-FFF2-40B4-BE49-F238E27FC236}">
                <a16:creationId xmlns:a16="http://schemas.microsoft.com/office/drawing/2014/main" id="{F42B52AC-ADB6-467A-B6EF-FE920E251927}"/>
              </a:ext>
            </a:extLst>
          </p:cNvPr>
          <p:cNvSpPr>
            <a:spLocks noGrp="1"/>
          </p:cNvSpPr>
          <p:nvPr/>
        </p:nvSpPr>
        <p:spPr>
          <a:xfrm rot="16200000">
            <a:off x="3543300" y="4991100"/>
            <a:ext cx="228600" cy="152400"/>
          </a:xfrm>
          <a:prstGeom prst="leftArrow">
            <a:avLst/>
          </a:prstGeom>
          <a:solidFill>
            <a:srgbClr val="D96555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54" name="Right Arrow 53">
            <a:extLst>
              <a:ext uri="{FF2B5EF4-FFF2-40B4-BE49-F238E27FC236}">
                <a16:creationId xmlns:a16="http://schemas.microsoft.com/office/drawing/2014/main" id="{D5DDB953-BBC3-4670-B126-BBB9F4A12242}"/>
              </a:ext>
            </a:extLst>
          </p:cNvPr>
          <p:cNvSpPr>
            <a:spLocks noGrp="1"/>
          </p:cNvSpPr>
          <p:nvPr/>
        </p:nvSpPr>
        <p:spPr>
          <a:xfrm>
            <a:off x="4914900" y="5486400"/>
            <a:ext cx="190500" cy="152400"/>
          </a:xfrm>
          <a:prstGeom prst="rightArrow">
            <a:avLst/>
          </a:prstGeom>
          <a:solidFill>
            <a:srgbClr val="3A9D7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55" name="Right Arrow 54">
            <a:extLst>
              <a:ext uri="{FF2B5EF4-FFF2-40B4-BE49-F238E27FC236}">
                <a16:creationId xmlns:a16="http://schemas.microsoft.com/office/drawing/2014/main" id="{60CAA507-BA92-4D15-9BD7-E75AA628A91F}"/>
              </a:ext>
            </a:extLst>
          </p:cNvPr>
          <p:cNvSpPr>
            <a:spLocks noGrp="1"/>
          </p:cNvSpPr>
          <p:nvPr/>
        </p:nvSpPr>
        <p:spPr>
          <a:xfrm>
            <a:off x="7258050" y="5486400"/>
            <a:ext cx="190500" cy="152400"/>
          </a:xfrm>
          <a:prstGeom prst="rightArrow">
            <a:avLst/>
          </a:prstGeom>
          <a:solidFill>
            <a:srgbClr val="1E6FA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C4C7CCC-033D-4C7E-9C34-0643237BCD3D}"/>
              </a:ext>
            </a:extLst>
          </p:cNvPr>
          <p:cNvSpPr>
            <a:spLocks noGrp="1"/>
          </p:cNvSpPr>
          <p:nvPr/>
        </p:nvSpPr>
        <p:spPr>
          <a:xfrm>
            <a:off x="609600" y="6324600"/>
            <a:ext cx="109347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5238"/>
          </a:bodyPr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575"/>
                </a:solidFill>
                <a:latin typeface="Aptos"/>
                <a:ea typeface="Aptos"/>
                <a:cs typeface="Aptos"/>
              </a:rPr>
              <a:t>The dataset is the primary output; registered visualization scripts derive reviewer views from it.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52F6802-B622-4EAE-AD41-4E666A63CCAE}"/>
              </a:ext>
            </a:extLst>
          </p:cNvPr>
          <p:cNvSpPr>
            <a:spLocks noGrp="1"/>
          </p:cNvSpPr>
          <p:nvPr/>
        </p:nvSpPr>
        <p:spPr>
          <a:xfrm>
            <a:off x="609600" y="6543675"/>
            <a:ext cx="38100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825" b="0">
                <a:solidFill>
                  <a:srgbClr val="7C8C9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C8C98"/>
                </a:solidFill>
                <a:latin typeface="Aptos"/>
                <a:ea typeface="Aptos"/>
                <a:cs typeface="Aptos"/>
              </a:rPr>
              <a:t>Target operating model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5B439003-3FA5-4BF4-AF80-331786CDFE30}"/>
              </a:ext>
            </a:extLst>
          </p:cNvPr>
          <p:cNvSpPr>
            <a:spLocks noGrp="1"/>
          </p:cNvSpPr>
          <p:nvPr/>
        </p:nvSpPr>
        <p:spPr>
          <a:xfrm>
            <a:off x="11239500" y="6515100"/>
            <a:ext cx="3429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00" b="1">
                <a:solidFill>
                  <a:srgbClr val="1E6FA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FA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19356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615792B7-A59F-49B5-8D55-0CBA2F581B89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00" b="1">
                <a:solidFill>
                  <a:srgbClr val="1E6FA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FA8"/>
                </a:solidFill>
                <a:latin typeface="Aptos"/>
                <a:ea typeface="Aptos"/>
                <a:cs typeface="Aptos"/>
              </a:rPr>
              <a:t>HEC-RAS ETL AUTOMATION PROGRAM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82BABB6-178B-41FB-823A-B4C9F830E46C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572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12304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2304A"/>
                </a:solidFill>
                <a:latin typeface="Aptos"/>
                <a:ea typeface="Aptos"/>
                <a:cs typeface="Aptos"/>
              </a:rPr>
              <a:t>Workstreams and ownership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2AE668F6-A092-412E-A968-5B6F5073AE8C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10972800" cy="0"/>
          </a:xfrm>
          <a:prstGeom prst="line">
            <a:avLst/>
          </a:prstGeom>
          <a:noFill/>
          <a:ln w="19050">
            <a:solidFill>
              <a:srgbClr val="D3E0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44E20D-AB7B-4E56-8A8A-C1A80D811EC6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10668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3048"/>
          </a:bodyPr>
          <a:lstStyle/>
          <a:p>
            <a:pPr algn="l">
              <a:lnSpc>
                <a:spcPct val="105000"/>
              </a:lnSpc>
              <a:buNone/>
              <a:defRPr sz="1650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26575"/>
                </a:solidFill>
                <a:latin typeface="Aptos"/>
                <a:ea typeface="Aptos"/>
                <a:cs typeface="Aptos"/>
              </a:rPr>
              <a:t>Three workstreams move in parallel, with co-design, bridge validation, and reporting development driving the delivery plan.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2137406-5D55-4E31-A3C0-2BCF8105A6BE}"/>
              </a:ext>
            </a:extLst>
          </p:cNvPr>
          <p:cNvSpPr>
            <a:spLocks noGrp="1"/>
          </p:cNvSpPr>
          <p:nvPr/>
        </p:nvSpPr>
        <p:spPr>
          <a:xfrm>
            <a:off x="609600" y="2114550"/>
            <a:ext cx="10934700" cy="742950"/>
          </a:xfrm>
          <a:prstGeom prst="roundRect">
            <a:avLst>
              <a:gd name="adj" fmla="val 12821"/>
            </a:avLst>
          </a:prstGeom>
          <a:solidFill>
            <a:srgbClr val="F6F9FB"/>
          </a:solidFill>
          <a:ln w="9525">
            <a:solidFill>
              <a:srgbClr val="D3E0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B585BC-C211-4EDC-8508-5AA4C0961224}"/>
              </a:ext>
            </a:extLst>
          </p:cNvPr>
          <p:cNvSpPr>
            <a:spLocks noGrp="1"/>
          </p:cNvSpPr>
          <p:nvPr/>
        </p:nvSpPr>
        <p:spPr>
          <a:xfrm>
            <a:off x="609600" y="2114550"/>
            <a:ext cx="171450" cy="742950"/>
          </a:xfrm>
          <a:prstGeom prst="rect">
            <a:avLst/>
          </a:prstGeom>
          <a:solidFill>
            <a:srgbClr val="12304A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BFC6E4-A6E2-451A-9924-82FD2E2C0EF0}"/>
              </a:ext>
            </a:extLst>
          </p:cNvPr>
          <p:cNvSpPr>
            <a:spLocks noGrp="1"/>
          </p:cNvSpPr>
          <p:nvPr/>
        </p:nvSpPr>
        <p:spPr>
          <a:xfrm>
            <a:off x="990600" y="2286000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12304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304A"/>
                </a:solidFill>
                <a:latin typeface="Aptos"/>
                <a:ea typeface="Aptos"/>
                <a:cs typeface="Aptos"/>
              </a:rPr>
              <a:t>Build HEC-RAS pipeline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1CEB25A-6D9F-40E4-80AE-02437008785D}"/>
              </a:ext>
            </a:extLst>
          </p:cNvPr>
          <p:cNvSpPr>
            <a:spLocks noGrp="1"/>
          </p:cNvSpPr>
          <p:nvPr/>
        </p:nvSpPr>
        <p:spPr>
          <a:xfrm>
            <a:off x="3619500" y="2276475"/>
            <a:ext cx="4762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B3A"/>
                </a:solidFill>
                <a:latin typeface="Aptos"/>
                <a:ea typeface="Aptos"/>
                <a:cs typeface="Aptos"/>
              </a:rPr>
              <a:t>Co-design model set, reviewer sessions, acceptance criteria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21846BC-12B9-421B-B9F6-2D3B57CB5BFF}"/>
              </a:ext>
            </a:extLst>
          </p:cNvPr>
          <p:cNvSpPr>
            <a:spLocks noGrp="1"/>
          </p:cNvSpPr>
          <p:nvPr/>
        </p:nvSpPr>
        <p:spPr>
          <a:xfrm>
            <a:off x="8953500" y="2324100"/>
            <a:ext cx="2286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200" b="1">
                <a:solidFill>
                  <a:srgbClr val="1230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304A"/>
                </a:solidFill>
                <a:latin typeface="Aptos"/>
                <a:ea typeface="Aptos"/>
                <a:cs typeface="Aptos"/>
              </a:rPr>
              <a:t>Project lead + TWDB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248374F-F204-4CD6-9C76-79C576893C80}"/>
              </a:ext>
            </a:extLst>
          </p:cNvPr>
          <p:cNvSpPr>
            <a:spLocks noGrp="1"/>
          </p:cNvSpPr>
          <p:nvPr/>
        </p:nvSpPr>
        <p:spPr>
          <a:xfrm>
            <a:off x="609600" y="3028950"/>
            <a:ext cx="10934700" cy="742950"/>
          </a:xfrm>
          <a:prstGeom prst="roundRect">
            <a:avLst>
              <a:gd name="adj" fmla="val 12821"/>
            </a:avLst>
          </a:prstGeom>
          <a:solidFill>
            <a:srgbClr val="F6F9FB"/>
          </a:solidFill>
          <a:ln w="9525">
            <a:solidFill>
              <a:srgbClr val="D3E0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6A1C609-5C94-4551-8B74-EFB94DFF554B}"/>
              </a:ext>
            </a:extLst>
          </p:cNvPr>
          <p:cNvSpPr>
            <a:spLocks noGrp="1"/>
          </p:cNvSpPr>
          <p:nvPr/>
        </p:nvSpPr>
        <p:spPr>
          <a:xfrm>
            <a:off x="609600" y="3028950"/>
            <a:ext cx="171450" cy="742950"/>
          </a:xfrm>
          <a:prstGeom prst="rect">
            <a:avLst/>
          </a:prstGeom>
          <a:solidFill>
            <a:srgbClr val="1E6FA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75C0B6-EEB6-45E1-8AAB-615A0EC9C73B}"/>
              </a:ext>
            </a:extLst>
          </p:cNvPr>
          <p:cNvSpPr>
            <a:spLocks noGrp="1"/>
          </p:cNvSpPr>
          <p:nvPr/>
        </p:nvSpPr>
        <p:spPr>
          <a:xfrm>
            <a:off x="990600" y="3200400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89347"/>
          </a:bodyPr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12304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304A"/>
                </a:solidFill>
                <a:latin typeface="Aptos"/>
                <a:ea typeface="Aptos"/>
                <a:cs typeface="Aptos"/>
              </a:rPr>
              <a:t>Test DYNAMO Model Bridges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59C868-82BF-474B-8A85-9A4D3BE09D35}"/>
              </a:ext>
            </a:extLst>
          </p:cNvPr>
          <p:cNvSpPr>
            <a:spLocks noGrp="1"/>
          </p:cNvSpPr>
          <p:nvPr/>
        </p:nvSpPr>
        <p:spPr>
          <a:xfrm>
            <a:off x="3619500" y="3190875"/>
            <a:ext cx="4762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2593" lnSpcReduction="10000"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B3A"/>
                </a:solidFill>
                <a:latin typeface="Aptos"/>
                <a:ea typeface="Aptos"/>
                <a:cs typeface="Aptos"/>
              </a:rPr>
              <a:t>Validate registered bridges across execution, ETL, visualization, and dataset outputs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EB51786-022B-4DAC-AC2D-E721D78B8863}"/>
              </a:ext>
            </a:extLst>
          </p:cNvPr>
          <p:cNvSpPr>
            <a:spLocks noGrp="1"/>
          </p:cNvSpPr>
          <p:nvPr/>
        </p:nvSpPr>
        <p:spPr>
          <a:xfrm>
            <a:off x="8953500" y="3238500"/>
            <a:ext cx="2286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200" b="1">
                <a:solidFill>
                  <a:srgbClr val="1E6FA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E6FA8"/>
                </a:solidFill>
                <a:latin typeface="Aptos"/>
                <a:ea typeface="Aptos"/>
                <a:cs typeface="Aptos"/>
              </a:rPr>
              <a:t>DYNAMO architecture team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389A454-4B42-44E6-9C3D-F684DC9D8572}"/>
              </a:ext>
            </a:extLst>
          </p:cNvPr>
          <p:cNvSpPr>
            <a:spLocks noGrp="1"/>
          </p:cNvSpPr>
          <p:nvPr/>
        </p:nvSpPr>
        <p:spPr>
          <a:xfrm>
            <a:off x="609600" y="3943350"/>
            <a:ext cx="10934700" cy="742950"/>
          </a:xfrm>
          <a:prstGeom prst="roundRect">
            <a:avLst>
              <a:gd name="adj" fmla="val 12821"/>
            </a:avLst>
          </a:prstGeom>
          <a:solidFill>
            <a:srgbClr val="F6F9FB"/>
          </a:solidFill>
          <a:ln w="9525">
            <a:solidFill>
              <a:srgbClr val="D3E0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BF41498-6594-4D70-9D69-1A16E58D1FA5}"/>
              </a:ext>
            </a:extLst>
          </p:cNvPr>
          <p:cNvSpPr>
            <a:spLocks noGrp="1"/>
          </p:cNvSpPr>
          <p:nvPr/>
        </p:nvSpPr>
        <p:spPr>
          <a:xfrm>
            <a:off x="609600" y="3943350"/>
            <a:ext cx="171450" cy="742950"/>
          </a:xfrm>
          <a:prstGeom prst="rect">
            <a:avLst/>
          </a:prstGeom>
          <a:solidFill>
            <a:srgbClr val="E6A23C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EDAF1C4-3D63-4FDD-BDCC-7A01CCBAC1AB}"/>
              </a:ext>
            </a:extLst>
          </p:cNvPr>
          <p:cNvSpPr>
            <a:spLocks noGrp="1"/>
          </p:cNvSpPr>
          <p:nvPr/>
        </p:nvSpPr>
        <p:spPr>
          <a:xfrm>
            <a:off x="990600" y="4114800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12304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304A"/>
                </a:solidFill>
                <a:latin typeface="Aptos"/>
                <a:ea typeface="Aptos"/>
                <a:cs typeface="Aptos"/>
              </a:rPr>
              <a:t>Build Intelligent Reporting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89F5263-5964-4BD8-A864-5EE987FCE1ED}"/>
              </a:ext>
            </a:extLst>
          </p:cNvPr>
          <p:cNvSpPr>
            <a:spLocks noGrp="1"/>
          </p:cNvSpPr>
          <p:nvPr/>
        </p:nvSpPr>
        <p:spPr>
          <a:xfrm>
            <a:off x="3619500" y="4105275"/>
            <a:ext cx="4762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B3A"/>
                </a:solidFill>
                <a:latin typeface="Aptos"/>
                <a:ea typeface="Aptos"/>
                <a:cs typeface="Aptos"/>
              </a:rPr>
              <a:t>Python visualization scripts, dataset views, reviewer reports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8836B10-3E61-4509-9B62-D13E9372833B}"/>
              </a:ext>
            </a:extLst>
          </p:cNvPr>
          <p:cNvSpPr>
            <a:spLocks noGrp="1"/>
          </p:cNvSpPr>
          <p:nvPr/>
        </p:nvSpPr>
        <p:spPr>
          <a:xfrm>
            <a:off x="8953500" y="4152900"/>
            <a:ext cx="2286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200" b="1">
                <a:solidFill>
                  <a:srgbClr val="E6A23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6A23C"/>
                </a:solidFill>
                <a:latin typeface="Aptos"/>
                <a:ea typeface="Aptos"/>
                <a:cs typeface="Aptos"/>
              </a:rPr>
              <a:t>Python reporting team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BDAF45C-E8D9-4278-AF77-F90F8715D65F}"/>
              </a:ext>
            </a:extLst>
          </p:cNvPr>
          <p:cNvSpPr>
            <a:spLocks noGrp="1"/>
          </p:cNvSpPr>
          <p:nvPr/>
        </p:nvSpPr>
        <p:spPr>
          <a:xfrm>
            <a:off x="609600" y="4857750"/>
            <a:ext cx="10934700" cy="742950"/>
          </a:xfrm>
          <a:prstGeom prst="roundRect">
            <a:avLst>
              <a:gd name="adj" fmla="val 12821"/>
            </a:avLst>
          </a:prstGeom>
          <a:noFill/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BB637D9-14CE-472F-984D-0DDD2D627C9C}"/>
              </a:ext>
            </a:extLst>
          </p:cNvPr>
          <p:cNvSpPr>
            <a:spLocks noGrp="1"/>
          </p:cNvSpPr>
          <p:nvPr/>
        </p:nvSpPr>
        <p:spPr>
          <a:xfrm>
            <a:off x="609600" y="4857750"/>
            <a:ext cx="171450" cy="7429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9D1CD30-5E4E-40C2-9F10-BFE254631C04}"/>
              </a:ext>
            </a:extLst>
          </p:cNvPr>
          <p:cNvSpPr>
            <a:spLocks noGrp="1"/>
          </p:cNvSpPr>
          <p:nvPr/>
        </p:nvSpPr>
        <p:spPr>
          <a:xfrm>
            <a:off x="990600" y="5029200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12304A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0332CF0-4A19-4480-B584-24FA5B87F5CD}"/>
              </a:ext>
            </a:extLst>
          </p:cNvPr>
          <p:cNvSpPr>
            <a:spLocks noGrp="1"/>
          </p:cNvSpPr>
          <p:nvPr/>
        </p:nvSpPr>
        <p:spPr>
          <a:xfrm>
            <a:off x="3619500" y="5019675"/>
            <a:ext cx="4762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8ADD901-EC66-4E1F-9D8F-D3D9FC92A649}"/>
              </a:ext>
            </a:extLst>
          </p:cNvPr>
          <p:cNvSpPr>
            <a:spLocks noGrp="1"/>
          </p:cNvSpPr>
          <p:nvPr/>
        </p:nvSpPr>
        <p:spPr>
          <a:xfrm>
            <a:off x="8953500" y="5067300"/>
            <a:ext cx="2286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200" b="1">
                <a:solidFill>
                  <a:srgbClr val="3A9D78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9151888-73E6-4AA2-91F4-0E4FC77BC791}"/>
              </a:ext>
            </a:extLst>
          </p:cNvPr>
          <p:cNvSpPr>
            <a:spLocks noGrp="1"/>
          </p:cNvSpPr>
          <p:nvPr/>
        </p:nvSpPr>
        <p:spPr>
          <a:xfrm>
            <a:off x="609600" y="5048250"/>
            <a:ext cx="2190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1E6FA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E6FA8"/>
                </a:solidFill>
                <a:latin typeface="Aptos"/>
                <a:ea typeface="Aptos"/>
                <a:cs typeface="Aptos"/>
              </a:rPr>
              <a:t>Cross-cutting controls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D7CAB93-A88C-42F5-94A1-EDF7DA8CB6EC}"/>
              </a:ext>
            </a:extLst>
          </p:cNvPr>
          <p:cNvSpPr>
            <a:spLocks noGrp="1"/>
          </p:cNvSpPr>
          <p:nvPr/>
        </p:nvSpPr>
        <p:spPr>
          <a:xfrm>
            <a:off x="2762250" y="5000625"/>
            <a:ext cx="8477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575"/>
                </a:solidFill>
                <a:latin typeface="Aptos"/>
                <a:ea typeface="Aptos"/>
                <a:cs typeface="Aptos"/>
              </a:rPr>
              <a:t>Security and service accounts  ·  versioned run manifests  ·  reproducible environments  ·  operator runbooks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BF8B586-882C-4CC1-B84F-C17DF72F4BAC}"/>
              </a:ext>
            </a:extLst>
          </p:cNvPr>
          <p:cNvSpPr>
            <a:spLocks noGrp="1"/>
          </p:cNvSpPr>
          <p:nvPr/>
        </p:nvSpPr>
        <p:spPr>
          <a:xfrm>
            <a:off x="609600" y="6543675"/>
            <a:ext cx="38100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825" b="0">
                <a:solidFill>
                  <a:srgbClr val="7C8C9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C8C98"/>
                </a:solidFill>
                <a:latin typeface="Aptos"/>
                <a:ea typeface="Aptos"/>
                <a:cs typeface="Aptos"/>
              </a:rPr>
              <a:t>Project management view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231FC59-6273-4806-821F-BDFC5765E03D}"/>
              </a:ext>
            </a:extLst>
          </p:cNvPr>
          <p:cNvSpPr>
            <a:spLocks noGrp="1"/>
          </p:cNvSpPr>
          <p:nvPr/>
        </p:nvSpPr>
        <p:spPr>
          <a:xfrm>
            <a:off x="11239500" y="6515100"/>
            <a:ext cx="3429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00" b="1">
                <a:solidFill>
                  <a:srgbClr val="1E6FA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FA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36649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64">
            <a:extLst>
              <a:ext uri="{FF2B5EF4-FFF2-40B4-BE49-F238E27FC236}">
                <a16:creationId xmlns:a16="http://schemas.microsoft.com/office/drawing/2014/main" id="{AFFCCB34-8447-4B52-B6CB-58F112B2677F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00" b="1">
                <a:solidFill>
                  <a:srgbClr val="1E6FA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FA8"/>
                </a:solidFill>
                <a:latin typeface="Aptos"/>
                <a:ea typeface="Aptos"/>
                <a:cs typeface="Aptos"/>
              </a:rPr>
              <a:t>HEC-RAS ETL AUTOMATION PROGRAM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9081E6-0968-45FE-9968-C541E3E1C307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572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12304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2304A"/>
                </a:solidFill>
                <a:latin typeface="Aptos"/>
                <a:ea typeface="Aptos"/>
                <a:cs typeface="Aptos"/>
              </a:rPr>
              <a:t>Gantt schedule: build, deconstruction, reporting, and testing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287C47F3-6C04-4A77-AC74-B898E124A5B9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10972800" cy="0"/>
          </a:xfrm>
          <a:prstGeom prst="line">
            <a:avLst/>
          </a:prstGeom>
          <a:noFill/>
          <a:ln w="19050">
            <a:solidFill>
              <a:srgbClr val="D3E0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A09311-ABC4-468F-8E2B-44EA1C814C3A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10858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2393"/>
          </a:bodyPr>
          <a:lstStyle/>
          <a:p>
            <a:pPr algn="l">
              <a:lnSpc>
                <a:spcPct val="105000"/>
              </a:lnSpc>
              <a:buNone/>
              <a:defRPr sz="1575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26575"/>
                </a:solidFill>
                <a:latin typeface="Aptos"/>
                <a:ea typeface="Aptos"/>
                <a:cs typeface="Aptos"/>
              </a:rPr>
              <a:t>The single-run slice establishes the evidence base; DYNAMO Model Bridge testing starts in January, and final setup begins in June.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937B3A-9D4E-46C5-9276-F5F9DC0FCD72}"/>
              </a:ext>
            </a:extLst>
          </p:cNvPr>
          <p:cNvSpPr>
            <a:spLocks noGrp="1"/>
          </p:cNvSpPr>
          <p:nvPr/>
        </p:nvSpPr>
        <p:spPr>
          <a:xfrm>
            <a:off x="609600" y="2038350"/>
            <a:ext cx="2476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1E6FA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6FA8"/>
                </a:solidFill>
                <a:latin typeface="Aptos"/>
                <a:ea typeface="Aptos"/>
                <a:cs typeface="Aptos"/>
              </a:rPr>
              <a:t>WORKSTREAM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440AD5-6C12-4EE0-AEE0-CCE7A420E17E}"/>
              </a:ext>
            </a:extLst>
          </p:cNvPr>
          <p:cNvSpPr>
            <a:spLocks noGrp="1"/>
          </p:cNvSpPr>
          <p:nvPr/>
        </p:nvSpPr>
        <p:spPr>
          <a:xfrm>
            <a:off x="3333750" y="2038350"/>
            <a:ext cx="81153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1E6FA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6FA8"/>
                </a:solidFill>
                <a:latin typeface="Aptos"/>
                <a:ea typeface="Aptos"/>
                <a:cs typeface="Aptos"/>
              </a:rPr>
              <a:t>SCHEDULE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A7F9589-7C66-42FD-BAA5-84C6E266EC17}"/>
              </a:ext>
            </a:extLst>
          </p:cNvPr>
          <p:cNvSpPr>
            <a:spLocks noGrp="1"/>
          </p:cNvSpPr>
          <p:nvPr/>
        </p:nvSpPr>
        <p:spPr>
          <a:xfrm>
            <a:off x="3333750" y="2343150"/>
            <a:ext cx="8115300" cy="342900"/>
          </a:xfrm>
          <a:prstGeom prst="roundRect">
            <a:avLst>
              <a:gd name="adj" fmla="val 16667"/>
            </a:avLst>
          </a:prstGeom>
          <a:solidFill>
            <a:srgbClr val="EAF5FA"/>
          </a:solidFill>
          <a:ln w="9525">
            <a:solidFill>
              <a:srgbClr val="D3E0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0331E1-3145-43F6-A123-C9A2CBE09B57}"/>
              </a:ext>
            </a:extLst>
          </p:cNvPr>
          <p:cNvSpPr>
            <a:spLocks noGrp="1"/>
          </p:cNvSpPr>
          <p:nvPr/>
        </p:nvSpPr>
        <p:spPr>
          <a:xfrm>
            <a:off x="3352800" y="2400300"/>
            <a:ext cx="77343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2970" lnSpcReduction="10000"/>
          </a:bodyPr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1230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2304A"/>
                </a:solidFill>
                <a:latin typeface="Aptos"/>
                <a:ea typeface="Aptos"/>
                <a:cs typeface="Aptos"/>
              </a:rPr>
              <a:t>Oct</a:t>
            </a:r>
          </a:p>
          <a:p>
            <a:pPr algn="ctr">
              <a:lnSpc>
                <a:spcPct val="105000"/>
              </a:lnSpc>
              <a:buNone/>
              <a:defRPr sz="975" b="1">
                <a:solidFill>
                  <a:srgbClr val="1230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2304A"/>
                </a:solidFill>
                <a:latin typeface="Aptos"/>
                <a:ea typeface="Aptos"/>
                <a:cs typeface="Aptos"/>
              </a:rPr>
              <a:t>2026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3B0D8F90-6EE1-443A-9A9C-7F72457E1995}"/>
              </a:ext>
            </a:extLst>
          </p:cNvPr>
          <p:cNvSpPr>
            <a:spLocks noGrp="1"/>
          </p:cNvSpPr>
          <p:nvPr/>
        </p:nvSpPr>
        <p:spPr>
          <a:xfrm>
            <a:off x="4145280" y="2343150"/>
            <a:ext cx="0" cy="3276600"/>
          </a:xfrm>
          <a:prstGeom prst="line">
            <a:avLst/>
          </a:prstGeom>
          <a:noFill/>
          <a:ln w="9525">
            <a:solidFill>
              <a:srgbClr val="D3E0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E60FD10-9833-409E-8770-D34E28C768C6}"/>
              </a:ext>
            </a:extLst>
          </p:cNvPr>
          <p:cNvSpPr>
            <a:spLocks noGrp="1"/>
          </p:cNvSpPr>
          <p:nvPr/>
        </p:nvSpPr>
        <p:spPr>
          <a:xfrm>
            <a:off x="4164330" y="2400300"/>
            <a:ext cx="77343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1230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2304A"/>
                </a:solidFill>
                <a:latin typeface="Aptos"/>
                <a:ea typeface="Aptos"/>
                <a:cs typeface="Aptos"/>
              </a:rPr>
              <a:t>Nov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75961CD9-D227-475B-9393-82746C03DF12}"/>
              </a:ext>
            </a:extLst>
          </p:cNvPr>
          <p:cNvSpPr>
            <a:spLocks noGrp="1"/>
          </p:cNvSpPr>
          <p:nvPr/>
        </p:nvSpPr>
        <p:spPr>
          <a:xfrm>
            <a:off x="4956810" y="2343150"/>
            <a:ext cx="0" cy="3276600"/>
          </a:xfrm>
          <a:prstGeom prst="line">
            <a:avLst/>
          </a:prstGeom>
          <a:noFill/>
          <a:ln w="9525">
            <a:solidFill>
              <a:srgbClr val="D3E0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C5B4FB8-5928-4D46-AA84-46145875BC12}"/>
              </a:ext>
            </a:extLst>
          </p:cNvPr>
          <p:cNvSpPr>
            <a:spLocks noGrp="1"/>
          </p:cNvSpPr>
          <p:nvPr/>
        </p:nvSpPr>
        <p:spPr>
          <a:xfrm>
            <a:off x="4975860" y="2400300"/>
            <a:ext cx="77343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1230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2304A"/>
                </a:solidFill>
                <a:latin typeface="Aptos"/>
                <a:ea typeface="Aptos"/>
                <a:cs typeface="Aptos"/>
              </a:rPr>
              <a:t>Dec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A2FBBF39-84B6-45DD-A8C8-41A4BFFAA8A8}"/>
              </a:ext>
            </a:extLst>
          </p:cNvPr>
          <p:cNvSpPr>
            <a:spLocks noGrp="1"/>
          </p:cNvSpPr>
          <p:nvPr/>
        </p:nvSpPr>
        <p:spPr>
          <a:xfrm>
            <a:off x="5768340" y="2343150"/>
            <a:ext cx="0" cy="3276600"/>
          </a:xfrm>
          <a:prstGeom prst="line">
            <a:avLst/>
          </a:prstGeom>
          <a:noFill/>
          <a:ln w="9525">
            <a:solidFill>
              <a:srgbClr val="D3E0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018EE08-7459-484A-B493-4352B7B6293A}"/>
              </a:ext>
            </a:extLst>
          </p:cNvPr>
          <p:cNvSpPr>
            <a:spLocks noGrp="1"/>
          </p:cNvSpPr>
          <p:nvPr/>
        </p:nvSpPr>
        <p:spPr>
          <a:xfrm>
            <a:off x="5787390" y="2400300"/>
            <a:ext cx="77343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1230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2304A"/>
                </a:solidFill>
                <a:latin typeface="Aptos"/>
                <a:ea typeface="Aptos"/>
                <a:cs typeface="Aptos"/>
              </a:rPr>
              <a:t>Jan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16E8700F-4AE8-46F6-809E-EAE12FF6DE8D}"/>
              </a:ext>
            </a:extLst>
          </p:cNvPr>
          <p:cNvSpPr>
            <a:spLocks noGrp="1"/>
          </p:cNvSpPr>
          <p:nvPr/>
        </p:nvSpPr>
        <p:spPr>
          <a:xfrm>
            <a:off x="6579870" y="2343150"/>
            <a:ext cx="0" cy="3276600"/>
          </a:xfrm>
          <a:prstGeom prst="line">
            <a:avLst/>
          </a:prstGeom>
          <a:noFill/>
          <a:ln w="9525">
            <a:solidFill>
              <a:srgbClr val="D3E0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B3E3C83-2A1F-4656-B212-0867778FDA13}"/>
              </a:ext>
            </a:extLst>
          </p:cNvPr>
          <p:cNvSpPr>
            <a:spLocks noGrp="1"/>
          </p:cNvSpPr>
          <p:nvPr/>
        </p:nvSpPr>
        <p:spPr>
          <a:xfrm>
            <a:off x="6598920" y="2400300"/>
            <a:ext cx="77343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1230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2304A"/>
                </a:solidFill>
                <a:latin typeface="Aptos"/>
                <a:ea typeface="Aptos"/>
                <a:cs typeface="Aptos"/>
              </a:rPr>
              <a:t>Feb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C6CD95CC-95D5-4BEC-8D50-C07ABA626C75}"/>
              </a:ext>
            </a:extLst>
          </p:cNvPr>
          <p:cNvSpPr>
            <a:spLocks noGrp="1"/>
          </p:cNvSpPr>
          <p:nvPr/>
        </p:nvSpPr>
        <p:spPr>
          <a:xfrm>
            <a:off x="7391400" y="2343150"/>
            <a:ext cx="0" cy="3276600"/>
          </a:xfrm>
          <a:prstGeom prst="line">
            <a:avLst/>
          </a:prstGeom>
          <a:noFill/>
          <a:ln w="9525">
            <a:solidFill>
              <a:srgbClr val="D3E0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1783E1A-C213-44FC-92B4-33F5ED9A0133}"/>
              </a:ext>
            </a:extLst>
          </p:cNvPr>
          <p:cNvSpPr>
            <a:spLocks noGrp="1"/>
          </p:cNvSpPr>
          <p:nvPr/>
        </p:nvSpPr>
        <p:spPr>
          <a:xfrm>
            <a:off x="7410450" y="2400300"/>
            <a:ext cx="77343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1230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2304A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B0890871-25B9-4BAA-8E33-AD018200C6DA}"/>
              </a:ext>
            </a:extLst>
          </p:cNvPr>
          <p:cNvSpPr>
            <a:spLocks noGrp="1"/>
          </p:cNvSpPr>
          <p:nvPr/>
        </p:nvSpPr>
        <p:spPr>
          <a:xfrm>
            <a:off x="8202930" y="2343150"/>
            <a:ext cx="0" cy="3276600"/>
          </a:xfrm>
          <a:prstGeom prst="line">
            <a:avLst/>
          </a:prstGeom>
          <a:noFill/>
          <a:ln w="9525">
            <a:solidFill>
              <a:srgbClr val="D3E0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8965B7D-5D32-4AAA-AC5A-93AE0CF2C1D0}"/>
              </a:ext>
            </a:extLst>
          </p:cNvPr>
          <p:cNvSpPr>
            <a:spLocks noGrp="1"/>
          </p:cNvSpPr>
          <p:nvPr/>
        </p:nvSpPr>
        <p:spPr>
          <a:xfrm>
            <a:off x="8221980" y="2400300"/>
            <a:ext cx="77343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1230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2304A"/>
                </a:solidFill>
                <a:latin typeface="Aptos"/>
                <a:ea typeface="Aptos"/>
                <a:cs typeface="Aptos"/>
              </a:rPr>
              <a:t>Apr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CA628F57-1EE5-4E68-8052-0C3004F271B0}"/>
              </a:ext>
            </a:extLst>
          </p:cNvPr>
          <p:cNvSpPr>
            <a:spLocks noGrp="1"/>
          </p:cNvSpPr>
          <p:nvPr/>
        </p:nvSpPr>
        <p:spPr>
          <a:xfrm>
            <a:off x="9014460" y="2343150"/>
            <a:ext cx="0" cy="3276600"/>
          </a:xfrm>
          <a:prstGeom prst="line">
            <a:avLst/>
          </a:prstGeom>
          <a:noFill/>
          <a:ln w="9525">
            <a:solidFill>
              <a:srgbClr val="D3E0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8450C14-3D07-4E6B-8A01-02F365F0CA43}"/>
              </a:ext>
            </a:extLst>
          </p:cNvPr>
          <p:cNvSpPr>
            <a:spLocks noGrp="1"/>
          </p:cNvSpPr>
          <p:nvPr/>
        </p:nvSpPr>
        <p:spPr>
          <a:xfrm>
            <a:off x="9033510" y="2400300"/>
            <a:ext cx="77343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1230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2304A"/>
                </a:solidFill>
                <a:latin typeface="Aptos"/>
                <a:ea typeface="Aptos"/>
                <a:cs typeface="Aptos"/>
              </a:rPr>
              <a:t>May</a:t>
            </a:r>
          </a:p>
        </p:txBody>
      </p:sp>
      <p:sp>
        <p:nvSpPr>
          <p:cNvPr id="23" name="Straight Connector 22">
            <a:extLst>
              <a:ext uri="{FF2B5EF4-FFF2-40B4-BE49-F238E27FC236}">
                <a16:creationId xmlns:a16="http://schemas.microsoft.com/office/drawing/2014/main" id="{0EC893C7-3A02-4867-8054-A4DA8C507683}"/>
              </a:ext>
            </a:extLst>
          </p:cNvPr>
          <p:cNvSpPr>
            <a:spLocks noGrp="1"/>
          </p:cNvSpPr>
          <p:nvPr/>
        </p:nvSpPr>
        <p:spPr>
          <a:xfrm>
            <a:off x="9825990" y="2343150"/>
            <a:ext cx="0" cy="3276600"/>
          </a:xfrm>
          <a:prstGeom prst="line">
            <a:avLst/>
          </a:prstGeom>
          <a:noFill/>
          <a:ln w="9525">
            <a:solidFill>
              <a:srgbClr val="D3E0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BF86CCA-BF1B-4A4E-B07A-F8F4108EF28A}"/>
              </a:ext>
            </a:extLst>
          </p:cNvPr>
          <p:cNvSpPr>
            <a:spLocks noGrp="1"/>
          </p:cNvSpPr>
          <p:nvPr/>
        </p:nvSpPr>
        <p:spPr>
          <a:xfrm>
            <a:off x="9845040" y="2400300"/>
            <a:ext cx="77343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1230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2304A"/>
                </a:solidFill>
                <a:latin typeface="Aptos"/>
                <a:ea typeface="Aptos"/>
                <a:cs typeface="Aptos"/>
              </a:rPr>
              <a:t>Jun</a:t>
            </a:r>
          </a:p>
        </p:txBody>
      </p:sp>
      <p:sp>
        <p:nvSpPr>
          <p:cNvPr id="25" name="Straight Connector 24">
            <a:extLst>
              <a:ext uri="{FF2B5EF4-FFF2-40B4-BE49-F238E27FC236}">
                <a16:creationId xmlns:a16="http://schemas.microsoft.com/office/drawing/2014/main" id="{16EFF93F-9305-45A8-A992-31BBC0AE56C9}"/>
              </a:ext>
            </a:extLst>
          </p:cNvPr>
          <p:cNvSpPr>
            <a:spLocks noGrp="1"/>
          </p:cNvSpPr>
          <p:nvPr/>
        </p:nvSpPr>
        <p:spPr>
          <a:xfrm>
            <a:off x="10637520" y="2343150"/>
            <a:ext cx="0" cy="3276600"/>
          </a:xfrm>
          <a:prstGeom prst="line">
            <a:avLst/>
          </a:prstGeom>
          <a:noFill/>
          <a:ln w="9525">
            <a:solidFill>
              <a:srgbClr val="D3E0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BCEF4D2-0AC9-471D-B7C1-94BBAE5BD478}"/>
              </a:ext>
            </a:extLst>
          </p:cNvPr>
          <p:cNvSpPr>
            <a:spLocks noGrp="1"/>
          </p:cNvSpPr>
          <p:nvPr/>
        </p:nvSpPr>
        <p:spPr>
          <a:xfrm>
            <a:off x="10656570" y="2400300"/>
            <a:ext cx="77343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2970" lnSpcReduction="10000"/>
          </a:bodyPr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1230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2304A"/>
                </a:solidFill>
                <a:latin typeface="Aptos"/>
                <a:ea typeface="Aptos"/>
                <a:cs typeface="Aptos"/>
              </a:rPr>
              <a:t>Jul</a:t>
            </a:r>
          </a:p>
          <a:p>
            <a:pPr algn="ctr">
              <a:lnSpc>
                <a:spcPct val="105000"/>
              </a:lnSpc>
              <a:buNone/>
              <a:defRPr sz="975" b="1">
                <a:solidFill>
                  <a:srgbClr val="1230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2304A"/>
                </a:solidFill>
                <a:latin typeface="Aptos"/>
                <a:ea typeface="Aptos"/>
                <a:cs typeface="Aptos"/>
              </a:rPr>
              <a:t>2027</a:t>
            </a:r>
          </a:p>
        </p:txBody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6E6AB27A-876F-4DEE-9780-8A68AED7C749}"/>
              </a:ext>
            </a:extLst>
          </p:cNvPr>
          <p:cNvSpPr>
            <a:spLocks noGrp="1"/>
          </p:cNvSpPr>
          <p:nvPr/>
        </p:nvSpPr>
        <p:spPr>
          <a:xfrm>
            <a:off x="3333750" y="2686050"/>
            <a:ext cx="8115300" cy="0"/>
          </a:xfrm>
          <a:prstGeom prst="line">
            <a:avLst/>
          </a:prstGeom>
          <a:noFill/>
          <a:ln w="19050">
            <a:solidFill>
              <a:srgbClr val="D3E0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traight Connector 27">
            <a:extLst>
              <a:ext uri="{FF2B5EF4-FFF2-40B4-BE49-F238E27FC236}">
                <a16:creationId xmlns:a16="http://schemas.microsoft.com/office/drawing/2014/main" id="{57EACADD-35C7-47B4-AFFF-BB36AF80B001}"/>
              </a:ext>
            </a:extLst>
          </p:cNvPr>
          <p:cNvSpPr>
            <a:spLocks noGrp="1"/>
          </p:cNvSpPr>
          <p:nvPr/>
        </p:nvSpPr>
        <p:spPr>
          <a:xfrm>
            <a:off x="609600" y="3143250"/>
            <a:ext cx="10839450" cy="0"/>
          </a:xfrm>
          <a:prstGeom prst="line">
            <a:avLst/>
          </a:prstGeom>
          <a:noFill/>
          <a:ln w="9525">
            <a:solidFill>
              <a:srgbClr val="D3E0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B52C133-5D8A-4D00-89A1-9AF54EB51934}"/>
              </a:ext>
            </a:extLst>
          </p:cNvPr>
          <p:cNvSpPr>
            <a:spLocks noGrp="1"/>
          </p:cNvSpPr>
          <p:nvPr/>
        </p:nvSpPr>
        <p:spPr>
          <a:xfrm>
            <a:off x="609600" y="2686050"/>
            <a:ext cx="2476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1230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304A"/>
                </a:solidFill>
                <a:latin typeface="Aptos"/>
                <a:ea typeface="Aptos"/>
                <a:cs typeface="Aptos"/>
              </a:rPr>
              <a:t>Environment baseline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A5023A1-BA87-4D4B-BD8B-8B0B0DF029E5}"/>
              </a:ext>
            </a:extLst>
          </p:cNvPr>
          <p:cNvSpPr>
            <a:spLocks noGrp="1"/>
          </p:cNvSpPr>
          <p:nvPr/>
        </p:nvSpPr>
        <p:spPr>
          <a:xfrm>
            <a:off x="609600" y="2933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00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575"/>
                </a:solidFill>
                <a:latin typeface="Aptos"/>
                <a:ea typeface="Aptos"/>
                <a:cs typeface="Aptos"/>
              </a:rPr>
              <a:t>Access, VMs, versions, sample models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6ADA0A11-2620-4D28-ACE7-35F0FCD80D39}"/>
              </a:ext>
            </a:extLst>
          </p:cNvPr>
          <p:cNvSpPr>
            <a:spLocks noGrp="1"/>
          </p:cNvSpPr>
          <p:nvPr/>
        </p:nvSpPr>
        <p:spPr>
          <a:xfrm>
            <a:off x="3381375" y="2724150"/>
            <a:ext cx="716280" cy="266700"/>
          </a:xfrm>
          <a:prstGeom prst="roundRect">
            <a:avLst>
              <a:gd name="adj" fmla="val 28571"/>
            </a:avLst>
          </a:prstGeom>
          <a:solidFill>
            <a:srgbClr val="12304A"/>
          </a:solidFill>
          <a:ln w="9525">
            <a:solidFill>
              <a:srgbClr val="1230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03B7369-5F20-4E39-8E19-FBD3CB4484B1}"/>
              </a:ext>
            </a:extLst>
          </p:cNvPr>
          <p:cNvSpPr>
            <a:spLocks noGrp="1"/>
          </p:cNvSpPr>
          <p:nvPr/>
        </p:nvSpPr>
        <p:spPr>
          <a:xfrm>
            <a:off x="3409950" y="2771775"/>
            <a:ext cx="65913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Oct</a:t>
            </a:r>
          </a:p>
        </p:txBody>
      </p:sp>
      <p:sp>
        <p:nvSpPr>
          <p:cNvPr id="33" name="Straight Connector 32">
            <a:extLst>
              <a:ext uri="{FF2B5EF4-FFF2-40B4-BE49-F238E27FC236}">
                <a16:creationId xmlns:a16="http://schemas.microsoft.com/office/drawing/2014/main" id="{38669A5B-2601-4052-A586-7129910966C5}"/>
              </a:ext>
            </a:extLst>
          </p:cNvPr>
          <p:cNvSpPr>
            <a:spLocks noGrp="1"/>
          </p:cNvSpPr>
          <p:nvPr/>
        </p:nvSpPr>
        <p:spPr>
          <a:xfrm>
            <a:off x="609600" y="3619500"/>
            <a:ext cx="10839450" cy="0"/>
          </a:xfrm>
          <a:prstGeom prst="line">
            <a:avLst/>
          </a:prstGeom>
          <a:noFill/>
          <a:ln w="9525">
            <a:solidFill>
              <a:srgbClr val="D3E0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0922B65-1974-43F1-9954-0319A5AD79EA}"/>
              </a:ext>
            </a:extLst>
          </p:cNvPr>
          <p:cNvSpPr>
            <a:spLocks noGrp="1"/>
          </p:cNvSpPr>
          <p:nvPr/>
        </p:nvSpPr>
        <p:spPr>
          <a:xfrm>
            <a:off x="609600" y="3162300"/>
            <a:ext cx="2476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1230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304A"/>
                </a:solidFill>
                <a:latin typeface="Aptos"/>
                <a:ea typeface="Aptos"/>
                <a:cs typeface="Aptos"/>
              </a:rPr>
              <a:t>Single-run slice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DA6C091-CFB7-4FCE-B5F9-E82688AFE879}"/>
              </a:ext>
            </a:extLst>
          </p:cNvPr>
          <p:cNvSpPr>
            <a:spLocks noGrp="1"/>
          </p:cNvSpPr>
          <p:nvPr/>
        </p:nvSpPr>
        <p:spPr>
          <a:xfrm>
            <a:off x="609600" y="340995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00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575"/>
                </a:solidFill>
                <a:latin typeface="Aptos"/>
                <a:ea typeface="Aptos"/>
                <a:cs typeface="Aptos"/>
              </a:rPr>
              <a:t>One model, one VM, one declared output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6F84F577-0C7A-4A66-8A42-FFE9A9C2B999}"/>
              </a:ext>
            </a:extLst>
          </p:cNvPr>
          <p:cNvSpPr>
            <a:spLocks noGrp="1"/>
          </p:cNvSpPr>
          <p:nvPr/>
        </p:nvSpPr>
        <p:spPr>
          <a:xfrm>
            <a:off x="4192904" y="3200400"/>
            <a:ext cx="2780768" cy="266700"/>
          </a:xfrm>
          <a:prstGeom prst="roundRect">
            <a:avLst>
              <a:gd name="adj" fmla="val 28571"/>
            </a:avLst>
          </a:prstGeom>
          <a:solidFill>
            <a:srgbClr val="12304A"/>
          </a:solidFill>
          <a:ln w="9525">
            <a:solidFill>
              <a:srgbClr val="1230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FB7D8C0-B003-4979-B3BB-BB8A2FFA1B36}"/>
              </a:ext>
            </a:extLst>
          </p:cNvPr>
          <p:cNvSpPr>
            <a:spLocks noGrp="1"/>
          </p:cNvSpPr>
          <p:nvPr/>
        </p:nvSpPr>
        <p:spPr>
          <a:xfrm>
            <a:off x="4221480" y="3248025"/>
            <a:ext cx="147066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Nov–Dec</a:t>
            </a:r>
          </a:p>
        </p:txBody>
      </p:sp>
      <p:sp>
        <p:nvSpPr>
          <p:cNvPr id="38" name="Straight Connector 37">
            <a:extLst>
              <a:ext uri="{FF2B5EF4-FFF2-40B4-BE49-F238E27FC236}">
                <a16:creationId xmlns:a16="http://schemas.microsoft.com/office/drawing/2014/main" id="{3D0311FD-06C8-434B-A339-3C179486A14F}"/>
              </a:ext>
            </a:extLst>
          </p:cNvPr>
          <p:cNvSpPr>
            <a:spLocks noGrp="1"/>
          </p:cNvSpPr>
          <p:nvPr/>
        </p:nvSpPr>
        <p:spPr>
          <a:xfrm>
            <a:off x="609600" y="4095750"/>
            <a:ext cx="10839450" cy="0"/>
          </a:xfrm>
          <a:prstGeom prst="line">
            <a:avLst/>
          </a:prstGeom>
          <a:noFill/>
          <a:ln w="9525">
            <a:solidFill>
              <a:srgbClr val="D3E0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96ADCA0-AD1D-4D6B-9880-B5CE7E97E86A}"/>
              </a:ext>
            </a:extLst>
          </p:cNvPr>
          <p:cNvSpPr>
            <a:spLocks noGrp="1"/>
          </p:cNvSpPr>
          <p:nvPr/>
        </p:nvSpPr>
        <p:spPr>
          <a:xfrm>
            <a:off x="609600" y="3638550"/>
            <a:ext cx="2476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1230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304A"/>
                </a:solidFill>
                <a:latin typeface="Aptos"/>
                <a:ea typeface="Aptos"/>
                <a:cs typeface="Aptos"/>
              </a:rPr>
              <a:t>Test DYNAMO Model Bridges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C502455-58FD-48B8-925D-7FA9905FEBE7}"/>
              </a:ext>
            </a:extLst>
          </p:cNvPr>
          <p:cNvSpPr>
            <a:spLocks noGrp="1"/>
          </p:cNvSpPr>
          <p:nvPr/>
        </p:nvSpPr>
        <p:spPr>
          <a:xfrm>
            <a:off x="609600" y="383286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2593"/>
          </a:bodyPr>
          <a:lstStyle/>
          <a:p>
            <a:pPr algn="l">
              <a:lnSpc>
                <a:spcPct val="105000"/>
              </a:lnSpc>
              <a:buNone/>
              <a:defRPr sz="900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575"/>
                </a:solidFill>
                <a:latin typeface="Aptos"/>
                <a:ea typeface="Aptos"/>
                <a:cs typeface="Aptos"/>
              </a:rPr>
              <a:t>Registered bridge testing across execution, ETL, visualization, and dataset outputs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946D58B5-91B5-43DC-8116-6B687BA93DE4}"/>
              </a:ext>
            </a:extLst>
          </p:cNvPr>
          <p:cNvSpPr>
            <a:spLocks noGrp="1"/>
          </p:cNvSpPr>
          <p:nvPr/>
        </p:nvSpPr>
        <p:spPr>
          <a:xfrm>
            <a:off x="5815965" y="3676650"/>
            <a:ext cx="3962400" cy="266700"/>
          </a:xfrm>
          <a:prstGeom prst="roundRect">
            <a:avLst>
              <a:gd name="adj" fmla="val 28571"/>
            </a:avLst>
          </a:prstGeom>
          <a:solidFill>
            <a:srgbClr val="1E6FA8"/>
          </a:solidFill>
          <a:ln w="9525">
            <a:solidFill>
              <a:srgbClr val="1E6F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C39188C-3396-48D7-BA26-B103E19D2BD6}"/>
              </a:ext>
            </a:extLst>
          </p:cNvPr>
          <p:cNvSpPr>
            <a:spLocks noGrp="1"/>
          </p:cNvSpPr>
          <p:nvPr/>
        </p:nvSpPr>
        <p:spPr>
          <a:xfrm>
            <a:off x="5844540" y="3724275"/>
            <a:ext cx="39052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Jan–May</a:t>
            </a:r>
          </a:p>
        </p:txBody>
      </p:sp>
      <p:sp>
        <p:nvSpPr>
          <p:cNvPr id="43" name="Straight Connector 42">
            <a:extLst>
              <a:ext uri="{FF2B5EF4-FFF2-40B4-BE49-F238E27FC236}">
                <a16:creationId xmlns:a16="http://schemas.microsoft.com/office/drawing/2014/main" id="{655D7862-6A9C-401B-ABDE-E32624DE1271}"/>
              </a:ext>
            </a:extLst>
          </p:cNvPr>
          <p:cNvSpPr>
            <a:spLocks noGrp="1"/>
          </p:cNvSpPr>
          <p:nvPr/>
        </p:nvSpPr>
        <p:spPr>
          <a:xfrm>
            <a:off x="609600" y="4572000"/>
            <a:ext cx="10839450" cy="0"/>
          </a:xfrm>
          <a:prstGeom prst="line">
            <a:avLst/>
          </a:prstGeom>
          <a:noFill/>
          <a:ln w="9525">
            <a:solidFill>
              <a:srgbClr val="D3E0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E2A7D1B-D702-4206-87EC-77B1598F41F4}"/>
              </a:ext>
            </a:extLst>
          </p:cNvPr>
          <p:cNvSpPr>
            <a:spLocks noGrp="1"/>
          </p:cNvSpPr>
          <p:nvPr/>
        </p:nvSpPr>
        <p:spPr>
          <a:xfrm>
            <a:off x="609600" y="4114800"/>
            <a:ext cx="2476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1230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304A"/>
                </a:solidFill>
                <a:latin typeface="Aptos"/>
                <a:ea typeface="Aptos"/>
                <a:cs typeface="Aptos"/>
              </a:rPr>
              <a:t>Reviewer workflows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85EAADE-A000-4834-8485-160069766D4C}"/>
              </a:ext>
            </a:extLst>
          </p:cNvPr>
          <p:cNvSpPr>
            <a:spLocks noGrp="1"/>
          </p:cNvSpPr>
          <p:nvPr/>
        </p:nvSpPr>
        <p:spPr>
          <a:xfrm>
            <a:off x="609600" y="436245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00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575"/>
                </a:solidFill>
                <a:latin typeface="Aptos"/>
                <a:ea typeface="Aptos"/>
                <a:cs typeface="Aptos"/>
              </a:rPr>
              <a:t>Notebook patterns, maps, metrics, feedback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E10466D4-C4E8-4895-AB2A-00864DB6888A}"/>
              </a:ext>
            </a:extLst>
          </p:cNvPr>
          <p:cNvSpPr>
            <a:spLocks noGrp="1"/>
          </p:cNvSpPr>
          <p:nvPr/>
        </p:nvSpPr>
        <p:spPr>
          <a:xfrm>
            <a:off x="5815965" y="4152900"/>
            <a:ext cx="3962400" cy="266700"/>
          </a:xfrm>
          <a:prstGeom prst="roundRect">
            <a:avLst>
              <a:gd name="adj" fmla="val 28571"/>
            </a:avLst>
          </a:prstGeom>
          <a:solidFill>
            <a:srgbClr val="E6A23C"/>
          </a:solidFill>
          <a:ln w="9525">
            <a:solidFill>
              <a:srgbClr val="E6A2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A9BDFEB-C9B0-4DB9-8670-B8FF81B887A5}"/>
              </a:ext>
            </a:extLst>
          </p:cNvPr>
          <p:cNvSpPr>
            <a:spLocks noGrp="1"/>
          </p:cNvSpPr>
          <p:nvPr/>
        </p:nvSpPr>
        <p:spPr>
          <a:xfrm>
            <a:off x="5844540" y="4200525"/>
            <a:ext cx="39052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r>
              <a:rPr sz="975" b="1">
                <a:solidFill>
                  <a:srgbClr val="172B3A"/>
                </a:solidFill>
                <a:latin typeface="Aptos"/>
                <a:ea typeface="Aptos"/>
                <a:cs typeface="Aptos"/>
              </a:rPr>
              <a:t>Jan–May</a:t>
            </a:r>
          </a:p>
        </p:txBody>
      </p:sp>
      <p:sp>
        <p:nvSpPr>
          <p:cNvPr id="48" name="Straight Connector 47">
            <a:extLst>
              <a:ext uri="{FF2B5EF4-FFF2-40B4-BE49-F238E27FC236}">
                <a16:creationId xmlns:a16="http://schemas.microsoft.com/office/drawing/2014/main" id="{3CF772D8-949E-4C6C-839C-E1B9B2F5D1CB}"/>
              </a:ext>
            </a:extLst>
          </p:cNvPr>
          <p:cNvSpPr>
            <a:spLocks noGrp="1"/>
          </p:cNvSpPr>
          <p:nvPr/>
        </p:nvSpPr>
        <p:spPr>
          <a:xfrm>
            <a:off x="609600" y="5048250"/>
            <a:ext cx="10839450" cy="0"/>
          </a:xfrm>
          <a:prstGeom prst="line">
            <a:avLst/>
          </a:prstGeom>
          <a:noFill/>
          <a:ln w="9525">
            <a:solidFill>
              <a:srgbClr val="D3E0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E4E340B-8CA3-41A5-9922-107E6454D617}"/>
              </a:ext>
            </a:extLst>
          </p:cNvPr>
          <p:cNvSpPr>
            <a:spLocks noGrp="1"/>
          </p:cNvSpPr>
          <p:nvPr/>
        </p:nvSpPr>
        <p:spPr>
          <a:xfrm>
            <a:off x="609600" y="4591050"/>
            <a:ext cx="2476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1230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304A"/>
                </a:solidFill>
                <a:latin typeface="Aptos"/>
                <a:ea typeface="Aptos"/>
                <a:cs typeface="Aptos"/>
              </a:rPr>
              <a:t>Automated reporting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A838715-E66A-4422-8D34-BF51002EFBF1}"/>
              </a:ext>
            </a:extLst>
          </p:cNvPr>
          <p:cNvSpPr>
            <a:spLocks noGrp="1"/>
          </p:cNvSpPr>
          <p:nvPr/>
        </p:nvSpPr>
        <p:spPr>
          <a:xfrm>
            <a:off x="609600" y="4838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00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575"/>
                </a:solidFill>
                <a:latin typeface="Aptos"/>
                <a:ea typeface="Aptos"/>
                <a:cs typeface="Aptos"/>
              </a:rPr>
              <a:t>Reporting workflow developed Nov–May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FFAF7BE7-E0FB-4AC7-9BC6-9E08B56B3E4C}"/>
              </a:ext>
            </a:extLst>
          </p:cNvPr>
          <p:cNvSpPr>
            <a:spLocks noGrp="1"/>
          </p:cNvSpPr>
          <p:nvPr/>
        </p:nvSpPr>
        <p:spPr>
          <a:xfrm>
            <a:off x="4192905" y="4629150"/>
            <a:ext cx="5585460" cy="266700"/>
          </a:xfrm>
          <a:prstGeom prst="roundRect">
            <a:avLst>
              <a:gd name="adj" fmla="val 28571"/>
            </a:avLst>
          </a:prstGeom>
          <a:solidFill>
            <a:srgbClr val="E6A23C"/>
          </a:solidFill>
          <a:ln w="9525">
            <a:solidFill>
              <a:srgbClr val="E6A2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C5390FF-930D-4D20-9886-9F0DD35B7164}"/>
              </a:ext>
            </a:extLst>
          </p:cNvPr>
          <p:cNvSpPr>
            <a:spLocks noGrp="1"/>
          </p:cNvSpPr>
          <p:nvPr/>
        </p:nvSpPr>
        <p:spPr>
          <a:xfrm>
            <a:off x="4221480" y="4676775"/>
            <a:ext cx="552831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r>
              <a:rPr sz="975" b="1">
                <a:solidFill>
                  <a:srgbClr val="172B3A"/>
                </a:solidFill>
                <a:latin typeface="Aptos"/>
                <a:ea typeface="Aptos"/>
                <a:cs typeface="Aptos"/>
              </a:rPr>
              <a:t>Nov–May</a:t>
            </a:r>
          </a:p>
        </p:txBody>
      </p:sp>
      <p:sp>
        <p:nvSpPr>
          <p:cNvPr id="53" name="Straight Connector 52">
            <a:extLst>
              <a:ext uri="{FF2B5EF4-FFF2-40B4-BE49-F238E27FC236}">
                <a16:creationId xmlns:a16="http://schemas.microsoft.com/office/drawing/2014/main" id="{B672D750-2CDD-447F-856D-DB72AA42DB99}"/>
              </a:ext>
            </a:extLst>
          </p:cNvPr>
          <p:cNvSpPr>
            <a:spLocks noGrp="1"/>
          </p:cNvSpPr>
          <p:nvPr/>
        </p:nvSpPr>
        <p:spPr>
          <a:xfrm>
            <a:off x="609600" y="5524500"/>
            <a:ext cx="10839450" cy="0"/>
          </a:xfrm>
          <a:prstGeom prst="line">
            <a:avLst/>
          </a:prstGeom>
          <a:noFill/>
          <a:ln w="9525">
            <a:solidFill>
              <a:srgbClr val="D3E0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1F0E75D-F058-4122-880E-1B3A02E6737C}"/>
              </a:ext>
            </a:extLst>
          </p:cNvPr>
          <p:cNvSpPr>
            <a:spLocks noGrp="1"/>
          </p:cNvSpPr>
          <p:nvPr/>
        </p:nvSpPr>
        <p:spPr>
          <a:xfrm>
            <a:off x="609600" y="5067300"/>
            <a:ext cx="2476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1230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304A"/>
                </a:solidFill>
                <a:latin typeface="Aptos"/>
                <a:ea typeface="Aptos"/>
                <a:cs typeface="Aptos"/>
              </a:rPr>
              <a:t>Final setup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B691670-7793-41AF-9C4A-C1AFD95BAB38}"/>
              </a:ext>
            </a:extLst>
          </p:cNvPr>
          <p:cNvSpPr>
            <a:spLocks noGrp="1"/>
          </p:cNvSpPr>
          <p:nvPr/>
        </p:nvSpPr>
        <p:spPr>
          <a:xfrm>
            <a:off x="609600" y="531495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00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575"/>
                </a:solidFill>
                <a:latin typeface="Aptos"/>
                <a:ea typeface="Aptos"/>
                <a:cs typeface="Aptos"/>
              </a:rPr>
              <a:t>Integrated path, handoff, and final validation</a:t>
            </a: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36946506-2E76-43E5-940C-8B823138BFDB}"/>
              </a:ext>
            </a:extLst>
          </p:cNvPr>
          <p:cNvSpPr>
            <a:spLocks noGrp="1"/>
          </p:cNvSpPr>
          <p:nvPr/>
        </p:nvSpPr>
        <p:spPr>
          <a:xfrm>
            <a:off x="9873615" y="5105400"/>
            <a:ext cx="1527810" cy="266700"/>
          </a:xfrm>
          <a:prstGeom prst="roundRect">
            <a:avLst>
              <a:gd name="adj" fmla="val 28571"/>
            </a:avLst>
          </a:prstGeom>
          <a:solidFill>
            <a:srgbClr val="1E6FA8"/>
          </a:solidFill>
          <a:ln w="9525">
            <a:solidFill>
              <a:srgbClr val="1E6F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43E14B11-4ADF-4205-8A5B-30760FCF4BED}"/>
              </a:ext>
            </a:extLst>
          </p:cNvPr>
          <p:cNvSpPr>
            <a:spLocks noGrp="1"/>
          </p:cNvSpPr>
          <p:nvPr/>
        </p:nvSpPr>
        <p:spPr>
          <a:xfrm>
            <a:off x="9902190" y="5153025"/>
            <a:ext cx="147066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Jun onward</a:t>
            </a:r>
          </a:p>
        </p:txBody>
      </p:sp>
      <p:sp>
        <p:nvSpPr>
          <p:cNvPr id="58" name="Right Arrow 57">
            <a:extLst>
              <a:ext uri="{FF2B5EF4-FFF2-40B4-BE49-F238E27FC236}">
                <a16:creationId xmlns:a16="http://schemas.microsoft.com/office/drawing/2014/main" id="{3D1F1964-CC24-44A7-8847-C5FC98D103AF}"/>
              </a:ext>
            </a:extLst>
          </p:cNvPr>
          <p:cNvSpPr>
            <a:spLocks noGrp="1"/>
          </p:cNvSpPr>
          <p:nvPr/>
        </p:nvSpPr>
        <p:spPr>
          <a:xfrm>
            <a:off x="5052060" y="3028950"/>
            <a:ext cx="666750" cy="171450"/>
          </a:xfrm>
          <a:prstGeom prst="rightArrow">
            <a:avLst/>
          </a:prstGeom>
          <a:solidFill>
            <a:srgbClr val="12304A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536B07B-A51E-4466-9ACC-55FEFB360B37}"/>
              </a:ext>
            </a:extLst>
          </p:cNvPr>
          <p:cNvSpPr>
            <a:spLocks noGrp="1"/>
          </p:cNvSpPr>
          <p:nvPr/>
        </p:nvSpPr>
        <p:spPr>
          <a:xfrm>
            <a:off x="5756910" y="2971800"/>
            <a:ext cx="7239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r>
              <a:rPr sz="825" b="1">
                <a:solidFill>
                  <a:srgbClr val="12304A"/>
                </a:solidFill>
                <a:latin typeface="Aptos"/>
                <a:ea typeface="Aptos"/>
                <a:cs typeface="Aptos"/>
              </a:rPr>
              <a:t>builds on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7EB16C65-A18E-40B9-8302-1561BB0B44A8}"/>
              </a:ext>
            </a:extLst>
          </p:cNvPr>
          <p:cNvSpPr>
            <a:spLocks noGrp="1"/>
          </p:cNvSpPr>
          <p:nvPr/>
        </p:nvSpPr>
        <p:spPr>
          <a:xfrm>
            <a:off x="609600" y="5810250"/>
            <a:ext cx="10839450" cy="457200"/>
          </a:xfrm>
          <a:prstGeom prst="roundRect">
            <a:avLst>
              <a:gd name="adj" fmla="val 20833"/>
            </a:avLst>
          </a:prstGeom>
          <a:solidFill>
            <a:srgbClr val="EAF5FA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E9468BF-8A9C-4E9B-AB70-B2E79D588F8A}"/>
              </a:ext>
            </a:extLst>
          </p:cNvPr>
          <p:cNvSpPr>
            <a:spLocks noGrp="1"/>
          </p:cNvSpPr>
          <p:nvPr/>
        </p:nvSpPr>
        <p:spPr>
          <a:xfrm>
            <a:off x="800100" y="5943600"/>
            <a:ext cx="1238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1E6FA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E6FA8"/>
                </a:solidFill>
                <a:latin typeface="Aptos"/>
                <a:ea typeface="Aptos"/>
                <a:cs typeface="Aptos"/>
              </a:rPr>
              <a:t>Decision point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0846B5F-3F9F-4313-BA7E-C6309F1DA1EB}"/>
              </a:ext>
            </a:extLst>
          </p:cNvPr>
          <p:cNvSpPr>
            <a:spLocks noGrp="1"/>
          </p:cNvSpPr>
          <p:nvPr/>
        </p:nvSpPr>
        <p:spPr>
          <a:xfrm>
            <a:off x="2114550" y="5905500"/>
            <a:ext cx="9048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2344" lnSpcReduction="20000"/>
          </a:bodyPr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1230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04A"/>
                </a:solidFill>
                <a:latin typeface="Aptos"/>
                <a:ea typeface="Aptos"/>
                <a:cs typeface="Aptos"/>
              </a:rPr>
              <a:t>By July 2027, the integrated path should run a representative model, produce a declared output, generate a report, and pass TWDB review.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107BFCC-EFFC-4F4C-AA29-BA1D21F8984C}"/>
              </a:ext>
            </a:extLst>
          </p:cNvPr>
          <p:cNvSpPr>
            <a:spLocks noGrp="1"/>
          </p:cNvSpPr>
          <p:nvPr/>
        </p:nvSpPr>
        <p:spPr>
          <a:xfrm>
            <a:off x="609600" y="6543675"/>
            <a:ext cx="38100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825" b="0">
                <a:solidFill>
                  <a:srgbClr val="7C8C9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C8C98"/>
                </a:solidFill>
                <a:latin typeface="Aptos"/>
                <a:ea typeface="Aptos"/>
                <a:cs typeface="Aptos"/>
              </a:rPr>
              <a:t>Gantt schedule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3D61E1E8-3CD0-42F3-9F0B-913B0F598EC5}"/>
              </a:ext>
            </a:extLst>
          </p:cNvPr>
          <p:cNvSpPr>
            <a:spLocks noGrp="1"/>
          </p:cNvSpPr>
          <p:nvPr/>
        </p:nvSpPr>
        <p:spPr>
          <a:xfrm>
            <a:off x="11239500" y="6515100"/>
            <a:ext cx="3429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00" b="1">
                <a:solidFill>
                  <a:srgbClr val="1E6FA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FA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170699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FCC4C14D-4C03-485A-A718-843D2D2BAAE2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00" b="1">
                <a:solidFill>
                  <a:srgbClr val="1E6FA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FA8"/>
                </a:solidFill>
                <a:latin typeface="Aptos"/>
                <a:ea typeface="Aptos"/>
                <a:cs typeface="Aptos"/>
              </a:rPr>
              <a:t>HEC-RAS ETL AUTOMATION PROGRAM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4F2E2CF-D51F-4723-A154-74E930178741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572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12304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2304A"/>
                </a:solidFill>
                <a:latin typeface="Aptos"/>
                <a:ea typeface="Aptos"/>
                <a:cs typeface="Aptos"/>
              </a:rPr>
              <a:t>Dependencies, risks, and decisions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8EF769F5-3ECF-4F89-A23E-E07EFC2D7346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10972800" cy="0"/>
          </a:xfrm>
          <a:prstGeom prst="line">
            <a:avLst/>
          </a:prstGeom>
          <a:noFill/>
          <a:ln w="19050">
            <a:solidFill>
              <a:srgbClr val="D3E0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58063B-CF0C-4603-921B-F4FCEE87BF2F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10668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26575"/>
                </a:solidFill>
                <a:latin typeface="Aptos"/>
                <a:ea typeface="Aptos"/>
                <a:cs typeface="Aptos"/>
              </a:rPr>
              <a:t>The program can start while several decisions remain open, but they need owners and dates.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985BB3F-E491-4703-8BAE-5FC6A6D98B18}"/>
              </a:ext>
            </a:extLst>
          </p:cNvPr>
          <p:cNvSpPr>
            <a:spLocks noGrp="1"/>
          </p:cNvSpPr>
          <p:nvPr/>
        </p:nvSpPr>
        <p:spPr>
          <a:xfrm>
            <a:off x="609600" y="2133600"/>
            <a:ext cx="3048000" cy="438150"/>
          </a:xfrm>
          <a:prstGeom prst="roundRect">
            <a:avLst>
              <a:gd name="adj" fmla="val 17391"/>
            </a:avLst>
          </a:prstGeom>
          <a:solidFill>
            <a:srgbClr val="1E6FA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9ADD6B-BE3A-441A-95BF-584EA841A08E}"/>
              </a:ext>
            </a:extLst>
          </p:cNvPr>
          <p:cNvSpPr>
            <a:spLocks noGrp="1"/>
          </p:cNvSpPr>
          <p:nvPr/>
        </p:nvSpPr>
        <p:spPr>
          <a:xfrm>
            <a:off x="781050" y="2257425"/>
            <a:ext cx="27051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9206"/>
          </a:bodyPr>
          <a:lstStyle/>
          <a:p>
            <a:pPr algn="l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Dependency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EE1A24F-1FED-487C-A90E-3EA40029C680}"/>
              </a:ext>
            </a:extLst>
          </p:cNvPr>
          <p:cNvSpPr>
            <a:spLocks noGrp="1"/>
          </p:cNvSpPr>
          <p:nvPr/>
        </p:nvSpPr>
        <p:spPr>
          <a:xfrm>
            <a:off x="4229100" y="2133600"/>
            <a:ext cx="3048000" cy="438150"/>
          </a:xfrm>
          <a:prstGeom prst="roundRect">
            <a:avLst>
              <a:gd name="adj" fmla="val 17391"/>
            </a:avLst>
          </a:prstGeom>
          <a:solidFill>
            <a:srgbClr val="D96555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97E24F-D05D-45F7-9EAE-ACA43988195E}"/>
              </a:ext>
            </a:extLst>
          </p:cNvPr>
          <p:cNvSpPr>
            <a:spLocks noGrp="1"/>
          </p:cNvSpPr>
          <p:nvPr/>
        </p:nvSpPr>
        <p:spPr>
          <a:xfrm>
            <a:off x="4400550" y="2257425"/>
            <a:ext cx="27051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9206"/>
          </a:bodyPr>
          <a:lstStyle/>
          <a:p>
            <a:pPr algn="l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Risk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A8878BF-EE16-4214-8684-DADC0D4D42B0}"/>
              </a:ext>
            </a:extLst>
          </p:cNvPr>
          <p:cNvSpPr>
            <a:spLocks noGrp="1"/>
          </p:cNvSpPr>
          <p:nvPr/>
        </p:nvSpPr>
        <p:spPr>
          <a:xfrm>
            <a:off x="7848600" y="2133600"/>
            <a:ext cx="3048000" cy="438150"/>
          </a:xfrm>
          <a:prstGeom prst="roundRect">
            <a:avLst>
              <a:gd name="adj" fmla="val 17391"/>
            </a:avLst>
          </a:prstGeom>
          <a:solidFill>
            <a:srgbClr val="E6A23C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AB469C-F8F9-4BC4-AAAC-75BBB8F9EC86}"/>
              </a:ext>
            </a:extLst>
          </p:cNvPr>
          <p:cNvSpPr>
            <a:spLocks noGrp="1"/>
          </p:cNvSpPr>
          <p:nvPr/>
        </p:nvSpPr>
        <p:spPr>
          <a:xfrm>
            <a:off x="8020050" y="2257425"/>
            <a:ext cx="27051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9206"/>
          </a:bodyPr>
          <a:lstStyle/>
          <a:p>
            <a:pPr algn="l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Decision needed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AF19F8-343A-4805-8AEE-01BF47C7193D}"/>
              </a:ext>
            </a:extLst>
          </p:cNvPr>
          <p:cNvSpPr>
            <a:spLocks noGrp="1"/>
          </p:cNvSpPr>
          <p:nvPr/>
        </p:nvSpPr>
        <p:spPr>
          <a:xfrm>
            <a:off x="781050" y="2819400"/>
            <a:ext cx="2705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B3A"/>
                </a:solidFill>
                <a:latin typeface="Aptos"/>
                <a:ea typeface="Aptos"/>
                <a:cs typeface="Aptos"/>
              </a:rPr>
              <a:t>Representative TWDB models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C282994-4C79-447B-BD8D-EBBD60CD15CD}"/>
              </a:ext>
            </a:extLst>
          </p:cNvPr>
          <p:cNvSpPr>
            <a:spLocks noGrp="1"/>
          </p:cNvSpPr>
          <p:nvPr/>
        </p:nvSpPr>
        <p:spPr>
          <a:xfrm>
            <a:off x="4400550" y="2819400"/>
            <a:ext cx="2705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B3A"/>
                </a:solidFill>
                <a:latin typeface="Aptos"/>
                <a:ea typeface="Aptos"/>
                <a:cs typeface="Aptos"/>
              </a:rPr>
              <a:t>Toy examples hide version and file-layout problems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23AE783-6493-42DF-8439-42449A1B3793}"/>
              </a:ext>
            </a:extLst>
          </p:cNvPr>
          <p:cNvSpPr>
            <a:spLocks noGrp="1"/>
          </p:cNvSpPr>
          <p:nvPr/>
        </p:nvSpPr>
        <p:spPr>
          <a:xfrm>
            <a:off x="8020050" y="2819400"/>
            <a:ext cx="2705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B3A"/>
                </a:solidFill>
                <a:latin typeface="Aptos"/>
                <a:ea typeface="Aptos"/>
                <a:cs typeface="Aptos"/>
              </a:rPr>
              <a:t>Select 5–10 models across 1D, 2D, RAS, and HMS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F169879D-10FB-4998-A8C2-5DB40425C855}"/>
              </a:ext>
            </a:extLst>
          </p:cNvPr>
          <p:cNvSpPr>
            <a:spLocks noGrp="1"/>
          </p:cNvSpPr>
          <p:nvPr/>
        </p:nvSpPr>
        <p:spPr>
          <a:xfrm>
            <a:off x="609600" y="3486150"/>
            <a:ext cx="10287000" cy="0"/>
          </a:xfrm>
          <a:prstGeom prst="line">
            <a:avLst/>
          </a:prstGeom>
          <a:noFill/>
          <a:ln w="9525">
            <a:solidFill>
              <a:srgbClr val="D3E0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155B4E5-5DAE-4A4F-8BCF-BAFDDC9E726E}"/>
              </a:ext>
            </a:extLst>
          </p:cNvPr>
          <p:cNvSpPr>
            <a:spLocks noGrp="1"/>
          </p:cNvSpPr>
          <p:nvPr/>
        </p:nvSpPr>
        <p:spPr>
          <a:xfrm>
            <a:off x="781050" y="3562350"/>
            <a:ext cx="2705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B3A"/>
                </a:solidFill>
                <a:latin typeface="Aptos"/>
                <a:ea typeface="Aptos"/>
                <a:cs typeface="Aptos"/>
              </a:rPr>
              <a:t>Unattended authentication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0DB7A70-0AF4-4337-9ABD-1FA1627462AE}"/>
              </a:ext>
            </a:extLst>
          </p:cNvPr>
          <p:cNvSpPr>
            <a:spLocks noGrp="1"/>
          </p:cNvSpPr>
          <p:nvPr/>
        </p:nvSpPr>
        <p:spPr>
          <a:xfrm>
            <a:off x="4400550" y="3562350"/>
            <a:ext cx="2705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B3A"/>
                </a:solidFill>
                <a:latin typeface="Aptos"/>
                <a:ea typeface="Aptos"/>
                <a:cs typeface="Aptos"/>
              </a:rPr>
              <a:t>Duo or service-account policy can block automation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5FBA2C0-31FD-4854-B667-3E3D9BFDA541}"/>
              </a:ext>
            </a:extLst>
          </p:cNvPr>
          <p:cNvSpPr>
            <a:spLocks noGrp="1"/>
          </p:cNvSpPr>
          <p:nvPr/>
        </p:nvSpPr>
        <p:spPr>
          <a:xfrm>
            <a:off x="8020050" y="3562350"/>
            <a:ext cx="2705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B3A"/>
                </a:solidFill>
                <a:latin typeface="Aptos"/>
                <a:ea typeface="Aptos"/>
                <a:cs typeface="Aptos"/>
              </a:rPr>
              <a:t>Approve the worker identity and token flow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E0FCB951-1395-4ECA-BB87-95CBB09B3971}"/>
              </a:ext>
            </a:extLst>
          </p:cNvPr>
          <p:cNvSpPr>
            <a:spLocks noGrp="1"/>
          </p:cNvSpPr>
          <p:nvPr/>
        </p:nvSpPr>
        <p:spPr>
          <a:xfrm>
            <a:off x="609600" y="4229100"/>
            <a:ext cx="10287000" cy="0"/>
          </a:xfrm>
          <a:prstGeom prst="line">
            <a:avLst/>
          </a:prstGeom>
          <a:noFill/>
          <a:ln w="9525">
            <a:solidFill>
              <a:srgbClr val="D3E0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89E01B3-7D8F-4F12-B730-B6A0C33F4DF2}"/>
              </a:ext>
            </a:extLst>
          </p:cNvPr>
          <p:cNvSpPr>
            <a:spLocks noGrp="1"/>
          </p:cNvSpPr>
          <p:nvPr/>
        </p:nvSpPr>
        <p:spPr>
          <a:xfrm>
            <a:off x="781050" y="4305300"/>
            <a:ext cx="2705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B3A"/>
                </a:solidFill>
                <a:latin typeface="Aptos"/>
                <a:ea typeface="Aptos"/>
                <a:cs typeface="Aptos"/>
              </a:rPr>
              <a:t>Runtime and storage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5265CD7-2D36-427C-B5E1-9E0EF0C0B6D7}"/>
              </a:ext>
            </a:extLst>
          </p:cNvPr>
          <p:cNvSpPr>
            <a:spLocks noGrp="1"/>
          </p:cNvSpPr>
          <p:nvPr/>
        </p:nvSpPr>
        <p:spPr>
          <a:xfrm>
            <a:off x="4400550" y="4305300"/>
            <a:ext cx="2705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B3A"/>
                </a:solidFill>
                <a:latin typeface="Aptos"/>
                <a:ea typeface="Aptos"/>
                <a:cs typeface="Aptos"/>
              </a:rPr>
              <a:t>Long jobs and large HDF outputs exceed defaults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5AD8D1F-3529-428A-81B1-8F039CFCEF32}"/>
              </a:ext>
            </a:extLst>
          </p:cNvPr>
          <p:cNvSpPr>
            <a:spLocks noGrp="1"/>
          </p:cNvSpPr>
          <p:nvPr/>
        </p:nvSpPr>
        <p:spPr>
          <a:xfrm>
            <a:off x="8020050" y="4305300"/>
            <a:ext cx="2705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B3A"/>
                </a:solidFill>
                <a:latin typeface="Aptos"/>
                <a:ea typeface="Aptos"/>
                <a:cs typeface="Aptos"/>
              </a:rPr>
              <a:t>Set wall-time, disk, archive, and retention policy</a:t>
            </a:r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C00AB318-8ADC-4FF5-8517-FB0BAC6815E8}"/>
              </a:ext>
            </a:extLst>
          </p:cNvPr>
          <p:cNvSpPr>
            <a:spLocks noGrp="1"/>
          </p:cNvSpPr>
          <p:nvPr/>
        </p:nvSpPr>
        <p:spPr>
          <a:xfrm>
            <a:off x="609600" y="4972050"/>
            <a:ext cx="10287000" cy="0"/>
          </a:xfrm>
          <a:prstGeom prst="line">
            <a:avLst/>
          </a:prstGeom>
          <a:noFill/>
          <a:ln w="9525">
            <a:solidFill>
              <a:srgbClr val="D3E0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AF4A7A3-4F0A-43AA-AF8E-801892DEE0FC}"/>
              </a:ext>
            </a:extLst>
          </p:cNvPr>
          <p:cNvSpPr>
            <a:spLocks noGrp="1"/>
          </p:cNvSpPr>
          <p:nvPr/>
        </p:nvSpPr>
        <p:spPr>
          <a:xfrm>
            <a:off x="781050" y="5048250"/>
            <a:ext cx="2705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B3A"/>
                </a:solidFill>
                <a:latin typeface="Aptos"/>
                <a:ea typeface="Aptos"/>
                <a:cs typeface="Aptos"/>
              </a:rPr>
              <a:t>Output contracts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5C88703-8CF4-456B-85D8-DD91D3739F2E}"/>
              </a:ext>
            </a:extLst>
          </p:cNvPr>
          <p:cNvSpPr>
            <a:spLocks noGrp="1"/>
          </p:cNvSpPr>
          <p:nvPr/>
        </p:nvSpPr>
        <p:spPr>
          <a:xfrm>
            <a:off x="4400550" y="5048250"/>
            <a:ext cx="2705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B3A"/>
                </a:solidFill>
                <a:latin typeface="Aptos"/>
                <a:ea typeface="Aptos"/>
                <a:cs typeface="Aptos"/>
              </a:rPr>
              <a:t>Ambiguous files create unsafe ETL inputs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365AE74-6FD5-4106-AF26-4484DCCB6804}"/>
              </a:ext>
            </a:extLst>
          </p:cNvPr>
          <p:cNvSpPr>
            <a:spLocks noGrp="1"/>
          </p:cNvSpPr>
          <p:nvPr/>
        </p:nvSpPr>
        <p:spPr>
          <a:xfrm>
            <a:off x="8020050" y="5048250"/>
            <a:ext cx="2705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B3A"/>
                </a:solidFill>
                <a:latin typeface="Aptos"/>
                <a:ea typeface="Aptos"/>
                <a:cs typeface="Aptos"/>
              </a:rPr>
              <a:t>Require declared output keys and checksums</a:t>
            </a:r>
          </a:p>
        </p:txBody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E9DCC534-D695-4244-BB32-73E696594B64}"/>
              </a:ext>
            </a:extLst>
          </p:cNvPr>
          <p:cNvSpPr>
            <a:spLocks noGrp="1"/>
          </p:cNvSpPr>
          <p:nvPr/>
        </p:nvSpPr>
        <p:spPr>
          <a:xfrm>
            <a:off x="609600" y="5715000"/>
            <a:ext cx="10287000" cy="0"/>
          </a:xfrm>
          <a:prstGeom prst="line">
            <a:avLst/>
          </a:prstGeom>
          <a:noFill/>
          <a:ln w="9525">
            <a:solidFill>
              <a:srgbClr val="D3E0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4D717C7-4E0F-4640-971C-D7F139EBD7E9}"/>
              </a:ext>
            </a:extLst>
          </p:cNvPr>
          <p:cNvSpPr>
            <a:spLocks noGrp="1"/>
          </p:cNvSpPr>
          <p:nvPr/>
        </p:nvSpPr>
        <p:spPr>
          <a:xfrm>
            <a:off x="781050" y="5791200"/>
            <a:ext cx="2705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B3A"/>
                </a:solidFill>
                <a:latin typeface="Aptos"/>
                <a:ea typeface="Aptos"/>
                <a:cs typeface="Aptos"/>
              </a:rPr>
              <a:t>Worker operations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37BD99C-4023-469D-8866-5478B078960D}"/>
              </a:ext>
            </a:extLst>
          </p:cNvPr>
          <p:cNvSpPr>
            <a:spLocks noGrp="1"/>
          </p:cNvSpPr>
          <p:nvPr/>
        </p:nvSpPr>
        <p:spPr>
          <a:xfrm>
            <a:off x="4400550" y="5791200"/>
            <a:ext cx="2705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125" b="0" dirty="0">
                <a:solidFill>
                  <a:srgbClr val="172B3A"/>
                </a:solidFill>
                <a:latin typeface="Aptos"/>
                <a:ea typeface="Aptos"/>
                <a:cs typeface="Aptos"/>
              </a:rPr>
              <a:t>A lost VM can strand a lease or duplicate a run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D00C297-A163-4EC1-B0B4-D96606094534}"/>
              </a:ext>
            </a:extLst>
          </p:cNvPr>
          <p:cNvSpPr>
            <a:spLocks noGrp="1"/>
          </p:cNvSpPr>
          <p:nvPr/>
        </p:nvSpPr>
        <p:spPr>
          <a:xfrm>
            <a:off x="8020050" y="5791200"/>
            <a:ext cx="2705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B3A"/>
                </a:solidFill>
                <a:latin typeface="Aptos"/>
                <a:ea typeface="Aptos"/>
                <a:cs typeface="Aptos"/>
              </a:rPr>
              <a:t>Define heartbeat, expiry, retry, and operator recovery</a:t>
            </a:r>
          </a:p>
        </p:txBody>
      </p:sp>
      <p:sp>
        <p:nvSpPr>
          <p:cNvPr id="30" name="Straight Connector 29">
            <a:extLst>
              <a:ext uri="{FF2B5EF4-FFF2-40B4-BE49-F238E27FC236}">
                <a16:creationId xmlns:a16="http://schemas.microsoft.com/office/drawing/2014/main" id="{A8AC8C72-29D7-4022-9937-AC181EFA9DFF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10287000" cy="0"/>
          </a:xfrm>
          <a:prstGeom prst="line">
            <a:avLst/>
          </a:prstGeom>
          <a:noFill/>
          <a:ln w="9525">
            <a:solidFill>
              <a:srgbClr val="D3E0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5294E82-2B7B-4A25-A061-C6B550E3401A}"/>
              </a:ext>
            </a:extLst>
          </p:cNvPr>
          <p:cNvSpPr>
            <a:spLocks noGrp="1"/>
          </p:cNvSpPr>
          <p:nvPr/>
        </p:nvSpPr>
        <p:spPr>
          <a:xfrm>
            <a:off x="609600" y="6543675"/>
            <a:ext cx="38100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825" b="0">
                <a:solidFill>
                  <a:srgbClr val="7C8C9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C8C98"/>
                </a:solidFill>
                <a:latin typeface="Aptos"/>
                <a:ea typeface="Aptos"/>
                <a:cs typeface="Aptos"/>
              </a:rPr>
              <a:t>Program controls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7D4F0EF-7C0B-4C56-90DA-8E1D20F5034C}"/>
              </a:ext>
            </a:extLst>
          </p:cNvPr>
          <p:cNvSpPr>
            <a:spLocks noGrp="1"/>
          </p:cNvSpPr>
          <p:nvPr/>
        </p:nvSpPr>
        <p:spPr>
          <a:xfrm>
            <a:off x="11239500" y="6515100"/>
            <a:ext cx="3429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00" b="1">
                <a:solidFill>
                  <a:srgbClr val="1E6FA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FA8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785801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0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6F7C3833-F73A-4EF2-B1A5-6E27F280AB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40A9C7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342D36B-8448-491E-8DFE-9E2D202AC65B}"/>
              </a:ext>
            </a:extLst>
          </p:cNvPr>
          <p:cNvSpPr>
            <a:spLocks noGrp="1"/>
          </p:cNvSpPr>
          <p:nvPr/>
        </p:nvSpPr>
        <p:spPr>
          <a:xfrm>
            <a:off x="666750" y="590550"/>
            <a:ext cx="66675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7403"/>
          </a:bodyPr>
          <a:lstStyle/>
          <a:p>
            <a:pPr algn="l">
              <a:lnSpc>
                <a:spcPct val="105000"/>
              </a:lnSpc>
              <a:buNone/>
              <a:defRPr sz="3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First 90 days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28DD3C-6EFB-47F4-AC45-86BECB00CDE4}"/>
              </a:ext>
            </a:extLst>
          </p:cNvPr>
          <p:cNvSpPr>
            <a:spLocks noGrp="1"/>
          </p:cNvSpPr>
          <p:nvPr/>
        </p:nvSpPr>
        <p:spPr>
          <a:xfrm>
            <a:off x="685800" y="1219200"/>
            <a:ext cx="8572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0">
                <a:solidFill>
                  <a:srgbClr val="D8EAF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8EAF2"/>
                </a:solidFill>
                <a:latin typeface="Aptos"/>
                <a:ea typeface="Aptos"/>
                <a:cs typeface="Aptos"/>
              </a:rPr>
              <a:t>A clear first milestone makes the larger automation program manageable.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80176A6-93C9-4340-A485-C49A74EC9E99}"/>
              </a:ext>
            </a:extLst>
          </p:cNvPr>
          <p:cNvSpPr>
            <a:spLocks noGrp="1"/>
          </p:cNvSpPr>
          <p:nvPr/>
        </p:nvSpPr>
        <p:spPr>
          <a:xfrm>
            <a:off x="685800" y="2343150"/>
            <a:ext cx="3333750" cy="2362200"/>
          </a:xfrm>
          <a:prstGeom prst="roundRect">
            <a:avLst>
              <a:gd name="adj" fmla="val 6452"/>
            </a:avLst>
          </a:prstGeom>
          <a:solidFill>
            <a:srgbClr val="183B55"/>
          </a:solidFill>
          <a:ln w="19050">
            <a:solidFill>
              <a:srgbClr val="1E6F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24A88D-6542-4381-B408-EBC0E096BFB4}"/>
              </a:ext>
            </a:extLst>
          </p:cNvPr>
          <p:cNvSpPr>
            <a:spLocks noGrp="1"/>
          </p:cNvSpPr>
          <p:nvPr/>
        </p:nvSpPr>
        <p:spPr>
          <a:xfrm>
            <a:off x="914400" y="2590800"/>
            <a:ext cx="2857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1">
                <a:solidFill>
                  <a:srgbClr val="1E6FA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E6FA8"/>
                </a:solidFill>
                <a:latin typeface="Aptos"/>
                <a:ea typeface="Aptos"/>
                <a:cs typeface="Aptos"/>
              </a:rPr>
              <a:t>Weeks 1–4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73604E-4283-4ACC-AB45-A9CADC950537}"/>
              </a:ext>
            </a:extLst>
          </p:cNvPr>
          <p:cNvSpPr>
            <a:spLocks noGrp="1"/>
          </p:cNvSpPr>
          <p:nvPr/>
        </p:nvSpPr>
        <p:spPr>
          <a:xfrm>
            <a:off x="914400" y="2990850"/>
            <a:ext cx="2857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Environment baseline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92BC2EA-FD67-4B36-A09D-B20C30A08600}"/>
              </a:ext>
            </a:extLst>
          </p:cNvPr>
          <p:cNvSpPr>
            <a:spLocks noGrp="1"/>
          </p:cNvSpPr>
          <p:nvPr/>
        </p:nvSpPr>
        <p:spPr>
          <a:xfrm>
            <a:off x="914400" y="3619500"/>
            <a:ext cx="28575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D8EAF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8EAF2"/>
                </a:solidFill>
                <a:latin typeface="Aptos"/>
                <a:ea typeface="Aptos"/>
                <a:cs typeface="Aptos"/>
              </a:rPr>
              <a:t>Confirm VM access, software versions, storage, authentication, and representative models.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5E3C837-A72B-4E0F-B457-FCD5B2651426}"/>
              </a:ext>
            </a:extLst>
          </p:cNvPr>
          <p:cNvSpPr>
            <a:spLocks noGrp="1"/>
          </p:cNvSpPr>
          <p:nvPr/>
        </p:nvSpPr>
        <p:spPr>
          <a:xfrm>
            <a:off x="4381500" y="2343150"/>
            <a:ext cx="3333750" cy="2362200"/>
          </a:xfrm>
          <a:prstGeom prst="roundRect">
            <a:avLst>
              <a:gd name="adj" fmla="val 6452"/>
            </a:avLst>
          </a:prstGeom>
          <a:solidFill>
            <a:srgbClr val="183B55"/>
          </a:solidFill>
          <a:ln w="19050">
            <a:solidFill>
              <a:srgbClr val="167C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D0AF11-28DB-42D5-A9BB-9F710153E881}"/>
              </a:ext>
            </a:extLst>
          </p:cNvPr>
          <p:cNvSpPr>
            <a:spLocks noGrp="1"/>
          </p:cNvSpPr>
          <p:nvPr/>
        </p:nvSpPr>
        <p:spPr>
          <a:xfrm>
            <a:off x="4610100" y="2590800"/>
            <a:ext cx="2857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1">
                <a:solidFill>
                  <a:srgbClr val="167C8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7C80"/>
                </a:solidFill>
                <a:latin typeface="Aptos"/>
                <a:ea typeface="Aptos"/>
                <a:cs typeface="Aptos"/>
              </a:rPr>
              <a:t>Weeks 5–8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44C591F-44FD-4DE9-BC0F-793DF035EEC1}"/>
              </a:ext>
            </a:extLst>
          </p:cNvPr>
          <p:cNvSpPr>
            <a:spLocks noGrp="1"/>
          </p:cNvSpPr>
          <p:nvPr/>
        </p:nvSpPr>
        <p:spPr>
          <a:xfrm>
            <a:off x="4610100" y="2990850"/>
            <a:ext cx="2857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Single-run automation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20E771-E4BB-46F5-A46E-AD9A8828EE61}"/>
              </a:ext>
            </a:extLst>
          </p:cNvPr>
          <p:cNvSpPr>
            <a:spLocks noGrp="1"/>
          </p:cNvSpPr>
          <p:nvPr/>
        </p:nvSpPr>
        <p:spPr>
          <a:xfrm>
            <a:off x="4610100" y="3619500"/>
            <a:ext cx="28575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2593" lnSpcReduction="10000"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D8EAF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8EAF2"/>
                </a:solidFill>
                <a:latin typeface="Aptos"/>
                <a:ea typeface="Aptos"/>
                <a:cs typeface="Aptos"/>
              </a:rPr>
              <a:t>Stabilize one representative model through staging, execution, status, output collection, and a notebook review.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90B3A44-B406-4FFE-8A9D-AF4D004C7CC0}"/>
              </a:ext>
            </a:extLst>
          </p:cNvPr>
          <p:cNvSpPr>
            <a:spLocks noGrp="1"/>
          </p:cNvSpPr>
          <p:nvPr/>
        </p:nvSpPr>
        <p:spPr>
          <a:xfrm>
            <a:off x="8077200" y="2343150"/>
            <a:ext cx="3333750" cy="2362200"/>
          </a:xfrm>
          <a:prstGeom prst="roundRect">
            <a:avLst>
              <a:gd name="adj" fmla="val 6452"/>
            </a:avLst>
          </a:prstGeom>
          <a:solidFill>
            <a:srgbClr val="183B55"/>
          </a:solidFill>
          <a:ln w="19050">
            <a:solidFill>
              <a:srgbClr val="3A9D7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4890F7A-1156-4FC8-AD3E-7E985A93F0BF}"/>
              </a:ext>
            </a:extLst>
          </p:cNvPr>
          <p:cNvSpPr>
            <a:spLocks noGrp="1"/>
          </p:cNvSpPr>
          <p:nvPr/>
        </p:nvSpPr>
        <p:spPr>
          <a:xfrm>
            <a:off x="8305800" y="2590800"/>
            <a:ext cx="2857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1">
                <a:solidFill>
                  <a:srgbClr val="3A9D7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A9D78"/>
                </a:solidFill>
                <a:latin typeface="Aptos"/>
                <a:ea typeface="Aptos"/>
                <a:cs typeface="Aptos"/>
              </a:rPr>
              <a:t>Weeks 9–12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CA6FB7-0D74-44A3-A139-674AE30B38C3}"/>
              </a:ext>
            </a:extLst>
          </p:cNvPr>
          <p:cNvSpPr>
            <a:spLocks noGrp="1"/>
          </p:cNvSpPr>
          <p:nvPr/>
        </p:nvSpPr>
        <p:spPr>
          <a:xfrm>
            <a:off x="8305800" y="2990850"/>
            <a:ext cx="2857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87710"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ETL proof + dataset contract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0DA093-EB85-4A89-819E-42EB850516D6}"/>
              </a:ext>
            </a:extLst>
          </p:cNvPr>
          <p:cNvSpPr>
            <a:spLocks noGrp="1"/>
          </p:cNvSpPr>
          <p:nvPr/>
        </p:nvSpPr>
        <p:spPr>
          <a:xfrm>
            <a:off x="8305800" y="3619500"/>
            <a:ext cx="28575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D8EAF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8EAF2"/>
                </a:solidFill>
                <a:latin typeface="Aptos"/>
                <a:ea typeface="Aptos"/>
                <a:cs typeface="Aptos"/>
              </a:rPr>
              <a:t>Produce one declared dataset output, review its QA/QC, and show one initial map or metric with TWDB.</a:t>
            </a:r>
          </a:p>
        </p:txBody>
      </p:sp>
    </p:spTree>
    <p:extLst>
      <p:ext uri="{BB962C8B-B14F-4D97-AF65-F5344CB8AC3E}">
        <p14:creationId xmlns:p14="http://schemas.microsoft.com/office/powerpoint/2010/main" val="12029393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0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92EB8BD3-74C2-40ED-907A-48C24956E24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40A9C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3A588FD-1D42-492E-A28B-3D4F5879BCC3}"/>
              </a:ext>
            </a:extLst>
          </p:cNvPr>
          <p:cNvSpPr>
            <a:spLocks noGrp="1"/>
          </p:cNvSpPr>
          <p:nvPr/>
        </p:nvSpPr>
        <p:spPr>
          <a:xfrm>
            <a:off x="666750" y="590550"/>
            <a:ext cx="8572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201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3201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201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Kickoff questions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5955B7F-4595-4F90-A908-E01A8BCA3D13}"/>
              </a:ext>
            </a:extLst>
          </p:cNvPr>
          <p:cNvSpPr>
            <a:spLocks noGrp="1"/>
          </p:cNvSpPr>
          <p:nvPr/>
        </p:nvSpPr>
        <p:spPr>
          <a:xfrm>
            <a:off x="685800" y="1219200"/>
            <a:ext cx="952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>
                <a:solidFill>
                  <a:srgbClr val="D8EAF2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650">
                <a:solidFill>
                  <a:srgbClr val="D8EAF2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D8EAF2"/>
                </a:solidFill>
                <a:latin typeface="Aptos"/>
                <a:ea typeface="Aptos"/>
                <a:cs typeface="Aptos"/>
              </a:rPr>
              <a:t>Confirm the conditions for the first representative ETL pipeline.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DF41DE2-B956-4620-9BB9-2D8A13C33FDC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5238750" cy="1619250"/>
          </a:xfrm>
          <a:prstGeom prst="roundRect">
            <a:avLst>
              <a:gd name="adj" fmla="val 3226"/>
            </a:avLst>
          </a:prstGeom>
          <a:solidFill>
            <a:srgbClr val="183B55"/>
          </a:solidFill>
          <a:ln w="19050">
            <a:solidFill>
              <a:srgbClr val="1E6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615030-2E10-453F-8F0E-BBB4171F5915}"/>
              </a:ext>
            </a:extLst>
          </p:cNvPr>
          <p:cNvSpPr>
            <a:spLocks noGrp="1"/>
          </p:cNvSpPr>
          <p:nvPr/>
        </p:nvSpPr>
        <p:spPr>
          <a:xfrm>
            <a:off x="914400" y="22288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1">
                <a:solidFill>
                  <a:srgbClr val="1E6FA8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200" b="1">
                <a:solidFill>
                  <a:srgbClr val="1E6FA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E6FA8"/>
                </a:solidFill>
                <a:latin typeface="Aptos"/>
                <a:ea typeface="Aptos"/>
                <a:cs typeface="Aptos"/>
              </a:rPr>
              <a:t>01  DOCUMENTATION ACCESS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EC1DBE1-2BD7-4E60-93F7-219CC992E589}"/>
              </a:ext>
            </a:extLst>
          </p:cNvPr>
          <p:cNvSpPr>
            <a:spLocks noGrp="1"/>
          </p:cNvSpPr>
          <p:nvPr/>
        </p:nvSpPr>
        <p:spPr>
          <a:xfrm>
            <a:off x="914400" y="255270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Shared source materials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F409AD-DC2A-4CB6-8D8C-33BFF145AB6B}"/>
              </a:ext>
            </a:extLst>
          </p:cNvPr>
          <p:cNvSpPr>
            <a:spLocks noGrp="1"/>
          </p:cNvSpPr>
          <p:nvPr/>
        </p:nvSpPr>
        <p:spPr>
          <a:xfrm>
            <a:off x="914400" y="3009900"/>
            <a:ext cx="476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63">
                <a:solidFill>
                  <a:srgbClr val="D8EAF2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163">
                <a:solidFill>
                  <a:srgbClr val="D8EAF2"/>
                </a:solidFill>
                <a:latin typeface="Aptos"/>
                <a:ea typeface="Aptos"/>
                <a:cs typeface="Aptos"/>
              </a:defRPr>
            </a:pPr>
            <a:r>
              <a:rPr sz="1163">
                <a:solidFill>
                  <a:srgbClr val="D8EAF2"/>
                </a:solidFill>
                <a:latin typeface="Aptos"/>
                <a:ea typeface="Aptos"/>
                <a:cs typeface="Aptos"/>
              </a:rPr>
              <a:t>Where should the team find the current video, PDF, and workflow documentation, and which version is authoritative?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8243F3E-D6D7-45AB-BB1F-07CD9D1595F5}"/>
              </a:ext>
            </a:extLst>
          </p:cNvPr>
          <p:cNvSpPr>
            <a:spLocks noGrp="1"/>
          </p:cNvSpPr>
          <p:nvPr/>
        </p:nvSpPr>
        <p:spPr>
          <a:xfrm>
            <a:off x="6267450" y="2000250"/>
            <a:ext cx="5238750" cy="1619250"/>
          </a:xfrm>
          <a:prstGeom prst="roundRect">
            <a:avLst>
              <a:gd name="adj" fmla="val 3226"/>
            </a:avLst>
          </a:prstGeom>
          <a:solidFill>
            <a:srgbClr val="183B55"/>
          </a:solidFill>
          <a:ln w="19050">
            <a:solidFill>
              <a:srgbClr val="167C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FA4DD18-46AA-4B85-A328-3031B2E521DE}"/>
              </a:ext>
            </a:extLst>
          </p:cNvPr>
          <p:cNvSpPr>
            <a:spLocks noGrp="1"/>
          </p:cNvSpPr>
          <p:nvPr/>
        </p:nvSpPr>
        <p:spPr>
          <a:xfrm>
            <a:off x="6496050" y="22288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1">
                <a:solidFill>
                  <a:srgbClr val="167C8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200" b="1">
                <a:solidFill>
                  <a:srgbClr val="167C8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7C80"/>
                </a:solidFill>
                <a:latin typeface="Aptos"/>
                <a:ea typeface="Aptos"/>
                <a:cs typeface="Aptos"/>
              </a:rPr>
              <a:t>02  WORKING CADENCE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EF1EAF-E6E8-4BB5-B777-6B996519EE6B}"/>
              </a:ext>
            </a:extLst>
          </p:cNvPr>
          <p:cNvSpPr>
            <a:spLocks noGrp="1"/>
          </p:cNvSpPr>
          <p:nvPr/>
        </p:nvSpPr>
        <p:spPr>
          <a:xfrm>
            <a:off x="6496050" y="255270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First ETL pipeline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747A8CB-7DC3-4A57-B413-6DD376C0AEEB}"/>
              </a:ext>
            </a:extLst>
          </p:cNvPr>
          <p:cNvSpPr>
            <a:spLocks noGrp="1"/>
          </p:cNvSpPr>
          <p:nvPr/>
        </p:nvSpPr>
        <p:spPr>
          <a:xfrm>
            <a:off x="6496050" y="3009900"/>
            <a:ext cx="476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63">
                <a:solidFill>
                  <a:srgbClr val="D8EAF2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163">
                <a:solidFill>
                  <a:srgbClr val="D8EAF2"/>
                </a:solidFill>
                <a:latin typeface="Aptos"/>
                <a:ea typeface="Aptos"/>
                <a:cs typeface="Aptos"/>
              </a:defRPr>
            </a:pPr>
            <a:r>
              <a:rPr sz="1163">
                <a:solidFill>
                  <a:srgbClr val="D8EAF2"/>
                </a:solidFill>
                <a:latin typeface="Aptos"/>
                <a:ea typeface="Aptos"/>
                <a:cs typeface="Aptos"/>
              </a:rPr>
              <a:t>Who needs to attend the working sessions, how often should they meet, and what decision must each session produce?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F93A9FE-B3B3-405C-80B9-7B67148324EC}"/>
              </a:ext>
            </a:extLst>
          </p:cNvPr>
          <p:cNvSpPr>
            <a:spLocks noGrp="1"/>
          </p:cNvSpPr>
          <p:nvPr/>
        </p:nvSpPr>
        <p:spPr>
          <a:xfrm>
            <a:off x="685800" y="3771900"/>
            <a:ext cx="5238750" cy="1619250"/>
          </a:xfrm>
          <a:prstGeom prst="roundRect">
            <a:avLst>
              <a:gd name="adj" fmla="val 4706"/>
            </a:avLst>
          </a:prstGeom>
          <a:solidFill>
            <a:srgbClr val="183B55"/>
          </a:solidFill>
          <a:ln w="19050">
            <a:solidFill>
              <a:srgbClr val="3A9D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FC479AA-92BD-45F8-A455-105440DA0E86}"/>
              </a:ext>
            </a:extLst>
          </p:cNvPr>
          <p:cNvSpPr>
            <a:spLocks noGrp="1"/>
          </p:cNvSpPr>
          <p:nvPr/>
        </p:nvSpPr>
        <p:spPr>
          <a:xfrm>
            <a:off x="914400" y="40005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1">
                <a:solidFill>
                  <a:srgbClr val="3A9D78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125" b="1">
                <a:solidFill>
                  <a:srgbClr val="3A9D7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A9D78"/>
                </a:solidFill>
                <a:latin typeface="Aptos"/>
                <a:ea typeface="Aptos"/>
                <a:cs typeface="Aptos"/>
              </a:rPr>
              <a:t>03  VISIBLE REVIEW OUTPUTS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16872E9-E44F-45CF-AC96-DE8F108EDF71}"/>
              </a:ext>
            </a:extLst>
          </p:cNvPr>
          <p:cNvSpPr>
            <a:spLocks noGrp="1"/>
          </p:cNvSpPr>
          <p:nvPr/>
        </p:nvSpPr>
        <p:spPr>
          <a:xfrm>
            <a:off x="914400" y="432435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First review artifact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10B3EEF-BD03-4520-AF0A-B89914F1EDD3}"/>
              </a:ext>
            </a:extLst>
          </p:cNvPr>
          <p:cNvSpPr>
            <a:spLocks noGrp="1"/>
          </p:cNvSpPr>
          <p:nvPr/>
        </p:nvSpPr>
        <p:spPr>
          <a:xfrm>
            <a:off x="914400" y="4781550"/>
            <a:ext cx="476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63">
                <a:solidFill>
                  <a:srgbClr val="D8EAF2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163">
                <a:solidFill>
                  <a:srgbClr val="D8EAF2"/>
                </a:solidFill>
                <a:latin typeface="Aptos"/>
                <a:ea typeface="Aptos"/>
                <a:cs typeface="Aptos"/>
              </a:defRPr>
            </a:pPr>
            <a:r>
              <a:rPr sz="1163">
                <a:solidFill>
                  <a:srgbClr val="D8EAF2"/>
                </a:solidFill>
                <a:latin typeface="Aptos"/>
                <a:ea typeface="Aptos"/>
                <a:cs typeface="Aptos"/>
              </a:rPr>
              <a:t>What should the first notebook, map, metric, or report demonstrate to a TWDB reviewer?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1C1D1A69-9199-48B8-A75F-176EB777183E}"/>
              </a:ext>
            </a:extLst>
          </p:cNvPr>
          <p:cNvSpPr>
            <a:spLocks noGrp="1"/>
          </p:cNvSpPr>
          <p:nvPr/>
        </p:nvSpPr>
        <p:spPr>
          <a:xfrm>
            <a:off x="6267450" y="3771900"/>
            <a:ext cx="5238750" cy="1619250"/>
          </a:xfrm>
          <a:prstGeom prst="roundRect">
            <a:avLst>
              <a:gd name="adj" fmla="val 4706"/>
            </a:avLst>
          </a:prstGeom>
          <a:solidFill>
            <a:srgbClr val="183B55"/>
          </a:solidFill>
          <a:ln w="19050">
            <a:solidFill>
              <a:srgbClr val="E6A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763EA8E-719C-401F-843A-DA93CAA44046}"/>
              </a:ext>
            </a:extLst>
          </p:cNvPr>
          <p:cNvSpPr>
            <a:spLocks noGrp="1"/>
          </p:cNvSpPr>
          <p:nvPr/>
        </p:nvSpPr>
        <p:spPr>
          <a:xfrm>
            <a:off x="6496050" y="40005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1">
                <a:solidFill>
                  <a:srgbClr val="E6A23C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125" b="1">
                <a:solidFill>
                  <a:srgbClr val="E6A23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6A23C"/>
                </a:solidFill>
                <a:latin typeface="Aptos"/>
                <a:ea typeface="Aptos"/>
                <a:cs typeface="Aptos"/>
              </a:rPr>
              <a:t>04  MODEL ARCHIVES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63EF06B-8FBF-4AF3-98FF-C5074C755D18}"/>
              </a:ext>
            </a:extLst>
          </p:cNvPr>
          <p:cNvSpPr>
            <a:spLocks noGrp="1"/>
          </p:cNvSpPr>
          <p:nvPr/>
        </p:nvSpPr>
        <p:spPr>
          <a:xfrm>
            <a:off x="6496050" y="432435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Representative test set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73F2080-4886-40C6-8DFB-E152FEED736B}"/>
              </a:ext>
            </a:extLst>
          </p:cNvPr>
          <p:cNvSpPr>
            <a:spLocks noGrp="1"/>
          </p:cNvSpPr>
          <p:nvPr/>
        </p:nvSpPr>
        <p:spPr>
          <a:xfrm>
            <a:off x="6496050" y="4781550"/>
            <a:ext cx="476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88">
                <a:solidFill>
                  <a:srgbClr val="D8EAF2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088">
                <a:solidFill>
                  <a:srgbClr val="D8EAF2"/>
                </a:solidFill>
                <a:latin typeface="Aptos"/>
                <a:ea typeface="Aptos"/>
                <a:cs typeface="Aptos"/>
              </a:defRPr>
            </a:pPr>
            <a:r>
              <a:rPr sz="1088">
                <a:solidFill>
                  <a:srgbClr val="D8EAF2"/>
                </a:solidFill>
                <a:latin typeface="Aptos"/>
                <a:ea typeface="Aptos"/>
                <a:cs typeface="Aptos"/>
              </a:rPr>
              <a:t>Which 3–5 representative HEC-RAS model archives can TWDB share for testing across relevant model and software versions? For each, can you provide expected outputs and known limitations?</a:t>
            </a:r>
          </a:p>
        </p:txBody>
      </p:sp>
    </p:spTree>
    <p:extLst>
      <p:ext uri="{BB962C8B-B14F-4D97-AF65-F5344CB8AC3E}">
        <p14:creationId xmlns:p14="http://schemas.microsoft.com/office/powerpoint/2010/main" val="183597345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905</Words>
  <Application>Microsoft Macintosh PowerPoint</Application>
  <DocSecurity>0</DocSecurity>
  <PresentationFormat>Widescreen</PresentationFormat>
  <Paragraphs>175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Aptos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William Mobley</cp:lastModifiedBy>
  <cp:revision>3</cp:revision>
  <dcterms:created xsi:type="dcterms:W3CDTF">2026-10-08T12:21:25Z</dcterms:created>
  <dcterms:modified xsi:type="dcterms:W3CDTF">2026-10-08T14:56:32Z</dcterms:modified>
</cp:coreProperties>
</file>